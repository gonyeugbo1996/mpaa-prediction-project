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5" r:id="rId3"/>
    <p:sldId id="276" r:id="rId4"/>
    <p:sldId id="277" r:id="rId5"/>
    <p:sldId id="278" r:id="rId6"/>
    <p:sldId id="279" r:id="rId7"/>
    <p:sldId id="291" r:id="rId8"/>
    <p:sldId id="290" r:id="rId9"/>
    <p:sldId id="289" r:id="rId10"/>
    <p:sldId id="292" r:id="rId11"/>
    <p:sldId id="293" r:id="rId12"/>
    <p:sldId id="265" r:id="rId13"/>
    <p:sldId id="274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6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FFB5F1-3399-44F9-BD05-A7A884D5949B}" type="doc">
      <dgm:prSet loTypeId="urn:microsoft.com/office/officeart/2005/8/layout/process4" loCatId="process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CF9E720-524D-4363-83DF-095D7B5ED3BC}">
      <dgm:prSet/>
      <dgm:spPr/>
      <dgm:t>
        <a:bodyPr/>
        <a:lstStyle/>
        <a:p>
          <a:r>
            <a:rPr lang="en-US" b="1"/>
            <a:t>Main Challenge: </a:t>
          </a:r>
          <a:r>
            <a:rPr lang="en-US"/>
            <a:t>Missing Data specifically MPAA rating. </a:t>
          </a:r>
        </a:p>
      </dgm:t>
    </dgm:pt>
    <dgm:pt modelId="{79119B1E-F899-44A6-ABA7-6958874024D8}" type="parTrans" cxnId="{3EE5799A-B000-45BF-B6C5-7BEF9A91388D}">
      <dgm:prSet/>
      <dgm:spPr/>
      <dgm:t>
        <a:bodyPr/>
        <a:lstStyle/>
        <a:p>
          <a:endParaRPr lang="en-US"/>
        </a:p>
      </dgm:t>
    </dgm:pt>
    <dgm:pt modelId="{C9782110-413B-4705-868F-2312B4F07A0C}" type="sibTrans" cxnId="{3EE5799A-B000-45BF-B6C5-7BEF9A91388D}">
      <dgm:prSet/>
      <dgm:spPr/>
      <dgm:t>
        <a:bodyPr/>
        <a:lstStyle/>
        <a:p>
          <a:endParaRPr lang="en-US"/>
        </a:p>
      </dgm:t>
    </dgm:pt>
    <dgm:pt modelId="{296CBDD9-AB11-40EF-9406-D9C1AF67503C}">
      <dgm:prSet/>
      <dgm:spPr/>
      <dgm:t>
        <a:bodyPr/>
        <a:lstStyle/>
        <a:p>
          <a:r>
            <a:rPr lang="en-US" b="1"/>
            <a:t>Remedy: </a:t>
          </a:r>
          <a:r>
            <a:rPr lang="en-US"/>
            <a:t>U</a:t>
          </a:r>
          <a:r>
            <a:rPr lang="en-US" b="0" i="0"/>
            <a:t>tilized the parental guidance fields such as sex, violence, profanity, drugs, and intensity to infer and fill in the missing MPAA ratings.</a:t>
          </a:r>
          <a:endParaRPr lang="en-US"/>
        </a:p>
      </dgm:t>
    </dgm:pt>
    <dgm:pt modelId="{E8A12B13-1795-4A5A-9F8D-100CBC86CFC6}" type="parTrans" cxnId="{D37E681B-51D1-4E19-8763-2D257DADD665}">
      <dgm:prSet/>
      <dgm:spPr/>
      <dgm:t>
        <a:bodyPr/>
        <a:lstStyle/>
        <a:p>
          <a:endParaRPr lang="en-US"/>
        </a:p>
      </dgm:t>
    </dgm:pt>
    <dgm:pt modelId="{538C1767-B0ED-4B00-8721-490D930D327E}" type="sibTrans" cxnId="{D37E681B-51D1-4E19-8763-2D257DADD665}">
      <dgm:prSet/>
      <dgm:spPr/>
      <dgm:t>
        <a:bodyPr/>
        <a:lstStyle/>
        <a:p>
          <a:endParaRPr lang="en-US"/>
        </a:p>
      </dgm:t>
    </dgm:pt>
    <dgm:pt modelId="{FC7ABE76-7B0F-4BC4-AE35-DFE1E4FE9D75}">
      <dgm:prSet/>
      <dgm:spPr/>
      <dgm:t>
        <a:bodyPr/>
        <a:lstStyle/>
        <a:p>
          <a:r>
            <a:rPr lang="en-US"/>
            <a:t>Highlighted the importance of these parental guidance fields as crucial predictors for building our models.</a:t>
          </a:r>
        </a:p>
      </dgm:t>
    </dgm:pt>
    <dgm:pt modelId="{058B6FB2-6FFC-40F7-9A98-5BB31253952E}" type="parTrans" cxnId="{76A7D789-2FFE-47D9-9553-EEEEDF0C8791}">
      <dgm:prSet/>
      <dgm:spPr/>
      <dgm:t>
        <a:bodyPr/>
        <a:lstStyle/>
        <a:p>
          <a:endParaRPr lang="en-US"/>
        </a:p>
      </dgm:t>
    </dgm:pt>
    <dgm:pt modelId="{BCF187E8-90E3-4EED-BA49-11106212C9F2}" type="sibTrans" cxnId="{76A7D789-2FFE-47D9-9553-EEEEDF0C8791}">
      <dgm:prSet/>
      <dgm:spPr/>
      <dgm:t>
        <a:bodyPr/>
        <a:lstStyle/>
        <a:p>
          <a:endParaRPr lang="en-US"/>
        </a:p>
      </dgm:t>
    </dgm:pt>
    <dgm:pt modelId="{F628E051-8921-4768-830E-BE8D5C2E99C5}" type="pres">
      <dgm:prSet presAssocID="{5FFFB5F1-3399-44F9-BD05-A7A884D5949B}" presName="Name0" presStyleCnt="0">
        <dgm:presLayoutVars>
          <dgm:dir/>
          <dgm:animLvl val="lvl"/>
          <dgm:resizeHandles val="exact"/>
        </dgm:presLayoutVars>
      </dgm:prSet>
      <dgm:spPr/>
    </dgm:pt>
    <dgm:pt modelId="{F5AD0576-35DC-4F51-BDCA-16AD246030D2}" type="pres">
      <dgm:prSet presAssocID="{FC7ABE76-7B0F-4BC4-AE35-DFE1E4FE9D75}" presName="boxAndChildren" presStyleCnt="0"/>
      <dgm:spPr/>
    </dgm:pt>
    <dgm:pt modelId="{25398F63-0479-4771-B996-C5075347FA1E}" type="pres">
      <dgm:prSet presAssocID="{FC7ABE76-7B0F-4BC4-AE35-DFE1E4FE9D75}" presName="parentTextBox" presStyleLbl="node1" presStyleIdx="0" presStyleCnt="3"/>
      <dgm:spPr/>
    </dgm:pt>
    <dgm:pt modelId="{22333C9C-2045-44BE-B89C-4EC1B110BEBC}" type="pres">
      <dgm:prSet presAssocID="{538C1767-B0ED-4B00-8721-490D930D327E}" presName="sp" presStyleCnt="0"/>
      <dgm:spPr/>
    </dgm:pt>
    <dgm:pt modelId="{BDC3BFD4-9F50-46FB-B697-65C450A9286E}" type="pres">
      <dgm:prSet presAssocID="{296CBDD9-AB11-40EF-9406-D9C1AF67503C}" presName="arrowAndChildren" presStyleCnt="0"/>
      <dgm:spPr/>
    </dgm:pt>
    <dgm:pt modelId="{A97B6CB9-9326-4342-B270-AD318AB06073}" type="pres">
      <dgm:prSet presAssocID="{296CBDD9-AB11-40EF-9406-D9C1AF67503C}" presName="parentTextArrow" presStyleLbl="node1" presStyleIdx="1" presStyleCnt="3"/>
      <dgm:spPr/>
    </dgm:pt>
    <dgm:pt modelId="{D25F3300-26B9-4613-A195-B9E8635E11C6}" type="pres">
      <dgm:prSet presAssocID="{C9782110-413B-4705-868F-2312B4F07A0C}" presName="sp" presStyleCnt="0"/>
      <dgm:spPr/>
    </dgm:pt>
    <dgm:pt modelId="{25CE3D23-277D-4D66-B9EC-786458BD3A13}" type="pres">
      <dgm:prSet presAssocID="{8CF9E720-524D-4363-83DF-095D7B5ED3BC}" presName="arrowAndChildren" presStyleCnt="0"/>
      <dgm:spPr/>
    </dgm:pt>
    <dgm:pt modelId="{431EC38E-C24C-4661-945B-5EBF1D6E3419}" type="pres">
      <dgm:prSet presAssocID="{8CF9E720-524D-4363-83DF-095D7B5ED3BC}" presName="parentTextArrow" presStyleLbl="node1" presStyleIdx="2" presStyleCnt="3"/>
      <dgm:spPr/>
    </dgm:pt>
  </dgm:ptLst>
  <dgm:cxnLst>
    <dgm:cxn modelId="{D37E681B-51D1-4E19-8763-2D257DADD665}" srcId="{5FFFB5F1-3399-44F9-BD05-A7A884D5949B}" destId="{296CBDD9-AB11-40EF-9406-D9C1AF67503C}" srcOrd="1" destOrd="0" parTransId="{E8A12B13-1795-4A5A-9F8D-100CBC86CFC6}" sibTransId="{538C1767-B0ED-4B00-8721-490D930D327E}"/>
    <dgm:cxn modelId="{F6D65136-F63D-4714-B530-7CA85A6141C7}" type="presOf" srcId="{5FFFB5F1-3399-44F9-BD05-A7A884D5949B}" destId="{F628E051-8921-4768-830E-BE8D5C2E99C5}" srcOrd="0" destOrd="0" presId="urn:microsoft.com/office/officeart/2005/8/layout/process4"/>
    <dgm:cxn modelId="{5F54663C-0F91-4D0C-9C44-6F2754F9809E}" type="presOf" srcId="{8CF9E720-524D-4363-83DF-095D7B5ED3BC}" destId="{431EC38E-C24C-4661-945B-5EBF1D6E3419}" srcOrd="0" destOrd="0" presId="urn:microsoft.com/office/officeart/2005/8/layout/process4"/>
    <dgm:cxn modelId="{5824AC4B-2EA4-4FBF-B156-429EB52725AF}" type="presOf" srcId="{FC7ABE76-7B0F-4BC4-AE35-DFE1E4FE9D75}" destId="{25398F63-0479-4771-B996-C5075347FA1E}" srcOrd="0" destOrd="0" presId="urn:microsoft.com/office/officeart/2005/8/layout/process4"/>
    <dgm:cxn modelId="{84BA1C87-E043-45B4-BBF8-DDD62E3572AF}" type="presOf" srcId="{296CBDD9-AB11-40EF-9406-D9C1AF67503C}" destId="{A97B6CB9-9326-4342-B270-AD318AB06073}" srcOrd="0" destOrd="0" presId="urn:microsoft.com/office/officeart/2005/8/layout/process4"/>
    <dgm:cxn modelId="{76A7D789-2FFE-47D9-9553-EEEEDF0C8791}" srcId="{5FFFB5F1-3399-44F9-BD05-A7A884D5949B}" destId="{FC7ABE76-7B0F-4BC4-AE35-DFE1E4FE9D75}" srcOrd="2" destOrd="0" parTransId="{058B6FB2-6FFC-40F7-9A98-5BB31253952E}" sibTransId="{BCF187E8-90E3-4EED-BA49-11106212C9F2}"/>
    <dgm:cxn modelId="{3EE5799A-B000-45BF-B6C5-7BEF9A91388D}" srcId="{5FFFB5F1-3399-44F9-BD05-A7A884D5949B}" destId="{8CF9E720-524D-4363-83DF-095D7B5ED3BC}" srcOrd="0" destOrd="0" parTransId="{79119B1E-F899-44A6-ABA7-6958874024D8}" sibTransId="{C9782110-413B-4705-868F-2312B4F07A0C}"/>
    <dgm:cxn modelId="{A9AF2A8C-88B5-4561-9AA4-ABC8C0B68554}" type="presParOf" srcId="{F628E051-8921-4768-830E-BE8D5C2E99C5}" destId="{F5AD0576-35DC-4F51-BDCA-16AD246030D2}" srcOrd="0" destOrd="0" presId="urn:microsoft.com/office/officeart/2005/8/layout/process4"/>
    <dgm:cxn modelId="{0EF588AA-B7C6-441E-9E24-B4A10E9F1263}" type="presParOf" srcId="{F5AD0576-35DC-4F51-BDCA-16AD246030D2}" destId="{25398F63-0479-4771-B996-C5075347FA1E}" srcOrd="0" destOrd="0" presId="urn:microsoft.com/office/officeart/2005/8/layout/process4"/>
    <dgm:cxn modelId="{4D2C43DC-655A-44F3-ABFC-DCE67C3A98C6}" type="presParOf" srcId="{F628E051-8921-4768-830E-BE8D5C2E99C5}" destId="{22333C9C-2045-44BE-B89C-4EC1B110BEBC}" srcOrd="1" destOrd="0" presId="urn:microsoft.com/office/officeart/2005/8/layout/process4"/>
    <dgm:cxn modelId="{22EE454A-E9DD-461B-877C-65F0828FF947}" type="presParOf" srcId="{F628E051-8921-4768-830E-BE8D5C2E99C5}" destId="{BDC3BFD4-9F50-46FB-B697-65C450A9286E}" srcOrd="2" destOrd="0" presId="urn:microsoft.com/office/officeart/2005/8/layout/process4"/>
    <dgm:cxn modelId="{219C090F-AE89-4192-B862-1A4857788067}" type="presParOf" srcId="{BDC3BFD4-9F50-46FB-B697-65C450A9286E}" destId="{A97B6CB9-9326-4342-B270-AD318AB06073}" srcOrd="0" destOrd="0" presId="urn:microsoft.com/office/officeart/2005/8/layout/process4"/>
    <dgm:cxn modelId="{3B17312A-7AC9-4A69-9520-E9E480FC72B5}" type="presParOf" srcId="{F628E051-8921-4768-830E-BE8D5C2E99C5}" destId="{D25F3300-26B9-4613-A195-B9E8635E11C6}" srcOrd="3" destOrd="0" presId="urn:microsoft.com/office/officeart/2005/8/layout/process4"/>
    <dgm:cxn modelId="{A8D6AD09-C159-4452-86B9-256F1F4499D6}" type="presParOf" srcId="{F628E051-8921-4768-830E-BE8D5C2E99C5}" destId="{25CE3D23-277D-4D66-B9EC-786458BD3A13}" srcOrd="4" destOrd="0" presId="urn:microsoft.com/office/officeart/2005/8/layout/process4"/>
    <dgm:cxn modelId="{FFC3B750-6857-4E52-AC15-DC0E88F58AA2}" type="presParOf" srcId="{25CE3D23-277D-4D66-B9EC-786458BD3A13}" destId="{431EC38E-C24C-4661-945B-5EBF1D6E341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8B1100-9E20-4CE4-BE4F-A32BAF0C1F5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D5D74F-D0F2-4F47-897F-6EC3A86F0F71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Main features included sex, violence, profanity, drugs, and intense.</a:t>
          </a:r>
        </a:p>
      </dgm:t>
    </dgm:pt>
    <dgm:pt modelId="{E78A0989-EB41-468F-BA0A-9B38E69E3E97}" type="parTrans" cxnId="{B364F4F7-49F3-48AE-BD5E-11C9C02D76E6}">
      <dgm:prSet/>
      <dgm:spPr/>
      <dgm:t>
        <a:bodyPr/>
        <a:lstStyle/>
        <a:p>
          <a:endParaRPr lang="en-US"/>
        </a:p>
      </dgm:t>
    </dgm:pt>
    <dgm:pt modelId="{95B0D82B-91F6-4AC5-9B83-E0059692BA37}" type="sibTrans" cxnId="{B364F4F7-49F3-48AE-BD5E-11C9C02D76E6}">
      <dgm:prSet/>
      <dgm:spPr/>
      <dgm:t>
        <a:bodyPr/>
        <a:lstStyle/>
        <a:p>
          <a:endParaRPr lang="en-US"/>
        </a:p>
      </dgm:t>
    </dgm:pt>
    <dgm:pt modelId="{B9676CF2-C1A0-4DCB-812E-2BE78B080EF6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Accuracy: 73.65%</a:t>
          </a:r>
        </a:p>
      </dgm:t>
    </dgm:pt>
    <dgm:pt modelId="{EE218BFC-542C-4D6A-834E-005636C03B56}" type="parTrans" cxnId="{B7BE6C55-B365-4944-BFBB-299FF30553B3}">
      <dgm:prSet/>
      <dgm:spPr/>
      <dgm:t>
        <a:bodyPr/>
        <a:lstStyle/>
        <a:p>
          <a:endParaRPr lang="en-US"/>
        </a:p>
      </dgm:t>
    </dgm:pt>
    <dgm:pt modelId="{6C864D46-D161-4F0C-BD4F-19FDBE428913}" type="sibTrans" cxnId="{B7BE6C55-B365-4944-BFBB-299FF30553B3}">
      <dgm:prSet/>
      <dgm:spPr/>
      <dgm:t>
        <a:bodyPr/>
        <a:lstStyle/>
        <a:p>
          <a:endParaRPr lang="en-US"/>
        </a:p>
      </dgm:t>
    </dgm:pt>
    <dgm:pt modelId="{887638B1-E046-4B01-855C-59A6B8587450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Evaluation: Correctly predicted Shek 2 MPAA rating as PG.  </a:t>
          </a:r>
        </a:p>
      </dgm:t>
    </dgm:pt>
    <dgm:pt modelId="{DF7CA2DB-68D3-436C-B54F-E25B7ABE5BE9}" type="parTrans" cxnId="{E73D70DF-94CF-4AD1-A3A7-BEDDD6866D4B}">
      <dgm:prSet/>
      <dgm:spPr/>
      <dgm:t>
        <a:bodyPr/>
        <a:lstStyle/>
        <a:p>
          <a:endParaRPr lang="en-US"/>
        </a:p>
      </dgm:t>
    </dgm:pt>
    <dgm:pt modelId="{986B01AE-0FC0-477D-96C4-4CB27D1ABE71}" type="sibTrans" cxnId="{E73D70DF-94CF-4AD1-A3A7-BEDDD6866D4B}">
      <dgm:prSet/>
      <dgm:spPr/>
      <dgm:t>
        <a:bodyPr/>
        <a:lstStyle/>
        <a:p>
          <a:endParaRPr lang="en-US"/>
        </a:p>
      </dgm:t>
    </dgm:pt>
    <dgm:pt modelId="{5F900C6C-D4A6-4B46-854E-2B5773D4A6E0}" type="pres">
      <dgm:prSet presAssocID="{0F8B1100-9E20-4CE4-BE4F-A32BAF0C1F5A}" presName="outerComposite" presStyleCnt="0">
        <dgm:presLayoutVars>
          <dgm:chMax val="5"/>
          <dgm:dir/>
          <dgm:resizeHandles val="exact"/>
        </dgm:presLayoutVars>
      </dgm:prSet>
      <dgm:spPr/>
    </dgm:pt>
    <dgm:pt modelId="{E3A3720C-282B-4667-A1DB-ACB3FC1CAE32}" type="pres">
      <dgm:prSet presAssocID="{0F8B1100-9E20-4CE4-BE4F-A32BAF0C1F5A}" presName="dummyMaxCanvas" presStyleCnt="0">
        <dgm:presLayoutVars/>
      </dgm:prSet>
      <dgm:spPr/>
    </dgm:pt>
    <dgm:pt modelId="{3E1BFEE0-5602-4DF8-A190-DEB561273130}" type="pres">
      <dgm:prSet presAssocID="{0F8B1100-9E20-4CE4-BE4F-A32BAF0C1F5A}" presName="ThreeNodes_1" presStyleLbl="node1" presStyleIdx="0" presStyleCnt="3">
        <dgm:presLayoutVars>
          <dgm:bulletEnabled val="1"/>
        </dgm:presLayoutVars>
      </dgm:prSet>
      <dgm:spPr/>
    </dgm:pt>
    <dgm:pt modelId="{AD9AD064-05BE-47D2-B72C-5870BA46A46A}" type="pres">
      <dgm:prSet presAssocID="{0F8B1100-9E20-4CE4-BE4F-A32BAF0C1F5A}" presName="ThreeNodes_2" presStyleLbl="node1" presStyleIdx="1" presStyleCnt="3">
        <dgm:presLayoutVars>
          <dgm:bulletEnabled val="1"/>
        </dgm:presLayoutVars>
      </dgm:prSet>
      <dgm:spPr/>
    </dgm:pt>
    <dgm:pt modelId="{AA09AF89-9F92-4DE3-8268-411396A9D035}" type="pres">
      <dgm:prSet presAssocID="{0F8B1100-9E20-4CE4-BE4F-A32BAF0C1F5A}" presName="ThreeNodes_3" presStyleLbl="node1" presStyleIdx="2" presStyleCnt="3">
        <dgm:presLayoutVars>
          <dgm:bulletEnabled val="1"/>
        </dgm:presLayoutVars>
      </dgm:prSet>
      <dgm:spPr/>
    </dgm:pt>
    <dgm:pt modelId="{49076ECA-D37C-4561-9D2E-AABD268AAF32}" type="pres">
      <dgm:prSet presAssocID="{0F8B1100-9E20-4CE4-BE4F-A32BAF0C1F5A}" presName="ThreeConn_1-2" presStyleLbl="fgAccFollowNode1" presStyleIdx="0" presStyleCnt="2">
        <dgm:presLayoutVars>
          <dgm:bulletEnabled val="1"/>
        </dgm:presLayoutVars>
      </dgm:prSet>
      <dgm:spPr/>
    </dgm:pt>
    <dgm:pt modelId="{837ED72B-951D-4178-85DA-788F530066C1}" type="pres">
      <dgm:prSet presAssocID="{0F8B1100-9E20-4CE4-BE4F-A32BAF0C1F5A}" presName="ThreeConn_2-3" presStyleLbl="fgAccFollowNode1" presStyleIdx="1" presStyleCnt="2">
        <dgm:presLayoutVars>
          <dgm:bulletEnabled val="1"/>
        </dgm:presLayoutVars>
      </dgm:prSet>
      <dgm:spPr/>
    </dgm:pt>
    <dgm:pt modelId="{FAE70E27-D8CF-4F08-AE17-5C61C5B3F58E}" type="pres">
      <dgm:prSet presAssocID="{0F8B1100-9E20-4CE4-BE4F-A32BAF0C1F5A}" presName="ThreeNodes_1_text" presStyleLbl="node1" presStyleIdx="2" presStyleCnt="3">
        <dgm:presLayoutVars>
          <dgm:bulletEnabled val="1"/>
        </dgm:presLayoutVars>
      </dgm:prSet>
      <dgm:spPr/>
    </dgm:pt>
    <dgm:pt modelId="{121273BC-E256-48C6-A86A-5CAEBB55EC31}" type="pres">
      <dgm:prSet presAssocID="{0F8B1100-9E20-4CE4-BE4F-A32BAF0C1F5A}" presName="ThreeNodes_2_text" presStyleLbl="node1" presStyleIdx="2" presStyleCnt="3">
        <dgm:presLayoutVars>
          <dgm:bulletEnabled val="1"/>
        </dgm:presLayoutVars>
      </dgm:prSet>
      <dgm:spPr/>
    </dgm:pt>
    <dgm:pt modelId="{E352FC71-CBAC-4B2F-8BB6-876955CA6243}" type="pres">
      <dgm:prSet presAssocID="{0F8B1100-9E20-4CE4-BE4F-A32BAF0C1F5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B963C39-A8E0-4ECB-843B-E8F62827775F}" type="presOf" srcId="{6C864D46-D161-4F0C-BD4F-19FDBE428913}" destId="{837ED72B-951D-4178-85DA-788F530066C1}" srcOrd="0" destOrd="0" presId="urn:microsoft.com/office/officeart/2005/8/layout/vProcess5"/>
    <dgm:cxn modelId="{F8FA0163-DF18-4630-8199-E5826073DC8C}" type="presOf" srcId="{95B0D82B-91F6-4AC5-9B83-E0059692BA37}" destId="{49076ECA-D37C-4561-9D2E-AABD268AAF32}" srcOrd="0" destOrd="0" presId="urn:microsoft.com/office/officeart/2005/8/layout/vProcess5"/>
    <dgm:cxn modelId="{71C2024D-2DB2-4790-BE48-B534B59094B1}" type="presOf" srcId="{7AD5D74F-D0F2-4F47-897F-6EC3A86F0F71}" destId="{FAE70E27-D8CF-4F08-AE17-5C61C5B3F58E}" srcOrd="1" destOrd="0" presId="urn:microsoft.com/office/officeart/2005/8/layout/vProcess5"/>
    <dgm:cxn modelId="{B7BE6C55-B365-4944-BFBB-299FF30553B3}" srcId="{0F8B1100-9E20-4CE4-BE4F-A32BAF0C1F5A}" destId="{B9676CF2-C1A0-4DCB-812E-2BE78B080EF6}" srcOrd="1" destOrd="0" parTransId="{EE218BFC-542C-4D6A-834E-005636C03B56}" sibTransId="{6C864D46-D161-4F0C-BD4F-19FDBE428913}"/>
    <dgm:cxn modelId="{1B2E8582-9184-453A-89D5-D885B874BAAF}" type="presOf" srcId="{887638B1-E046-4B01-855C-59A6B8587450}" destId="{AA09AF89-9F92-4DE3-8268-411396A9D035}" srcOrd="0" destOrd="0" presId="urn:microsoft.com/office/officeart/2005/8/layout/vProcess5"/>
    <dgm:cxn modelId="{BB088488-BFEB-45F5-B01C-8D7A70825B82}" type="presOf" srcId="{B9676CF2-C1A0-4DCB-812E-2BE78B080EF6}" destId="{AD9AD064-05BE-47D2-B72C-5870BA46A46A}" srcOrd="0" destOrd="0" presId="urn:microsoft.com/office/officeart/2005/8/layout/vProcess5"/>
    <dgm:cxn modelId="{6F8C0C98-4B78-4369-8F21-5960019376C4}" type="presOf" srcId="{B9676CF2-C1A0-4DCB-812E-2BE78B080EF6}" destId="{121273BC-E256-48C6-A86A-5CAEBB55EC31}" srcOrd="1" destOrd="0" presId="urn:microsoft.com/office/officeart/2005/8/layout/vProcess5"/>
    <dgm:cxn modelId="{E73D70DF-94CF-4AD1-A3A7-BEDDD6866D4B}" srcId="{0F8B1100-9E20-4CE4-BE4F-A32BAF0C1F5A}" destId="{887638B1-E046-4B01-855C-59A6B8587450}" srcOrd="2" destOrd="0" parTransId="{DF7CA2DB-68D3-436C-B54F-E25B7ABE5BE9}" sibTransId="{986B01AE-0FC0-477D-96C4-4CB27D1ABE71}"/>
    <dgm:cxn modelId="{6C210FE9-53C8-4D42-91F8-9B05C7723B6A}" type="presOf" srcId="{0F8B1100-9E20-4CE4-BE4F-A32BAF0C1F5A}" destId="{5F900C6C-D4A6-4B46-854E-2B5773D4A6E0}" srcOrd="0" destOrd="0" presId="urn:microsoft.com/office/officeart/2005/8/layout/vProcess5"/>
    <dgm:cxn modelId="{52121BEC-7EF4-4C5B-A9BF-776D3C305933}" type="presOf" srcId="{887638B1-E046-4B01-855C-59A6B8587450}" destId="{E352FC71-CBAC-4B2F-8BB6-876955CA6243}" srcOrd="1" destOrd="0" presId="urn:microsoft.com/office/officeart/2005/8/layout/vProcess5"/>
    <dgm:cxn modelId="{B364F4F7-49F3-48AE-BD5E-11C9C02D76E6}" srcId="{0F8B1100-9E20-4CE4-BE4F-A32BAF0C1F5A}" destId="{7AD5D74F-D0F2-4F47-897F-6EC3A86F0F71}" srcOrd="0" destOrd="0" parTransId="{E78A0989-EB41-468F-BA0A-9B38E69E3E97}" sibTransId="{95B0D82B-91F6-4AC5-9B83-E0059692BA37}"/>
    <dgm:cxn modelId="{67ADCEFC-77DC-4D6F-BFCB-8C9146A6F4D9}" type="presOf" srcId="{7AD5D74F-D0F2-4F47-897F-6EC3A86F0F71}" destId="{3E1BFEE0-5602-4DF8-A190-DEB561273130}" srcOrd="0" destOrd="0" presId="urn:microsoft.com/office/officeart/2005/8/layout/vProcess5"/>
    <dgm:cxn modelId="{58653EE9-4EB6-4B0A-9FB7-39CDDE778FF3}" type="presParOf" srcId="{5F900C6C-D4A6-4B46-854E-2B5773D4A6E0}" destId="{E3A3720C-282B-4667-A1DB-ACB3FC1CAE32}" srcOrd="0" destOrd="0" presId="urn:microsoft.com/office/officeart/2005/8/layout/vProcess5"/>
    <dgm:cxn modelId="{47EF8370-7C1F-42D8-BCD2-9266613F2625}" type="presParOf" srcId="{5F900C6C-D4A6-4B46-854E-2B5773D4A6E0}" destId="{3E1BFEE0-5602-4DF8-A190-DEB561273130}" srcOrd="1" destOrd="0" presId="urn:microsoft.com/office/officeart/2005/8/layout/vProcess5"/>
    <dgm:cxn modelId="{0FC20CC5-2DE4-4BAE-8505-02F5AC140A07}" type="presParOf" srcId="{5F900C6C-D4A6-4B46-854E-2B5773D4A6E0}" destId="{AD9AD064-05BE-47D2-B72C-5870BA46A46A}" srcOrd="2" destOrd="0" presId="urn:microsoft.com/office/officeart/2005/8/layout/vProcess5"/>
    <dgm:cxn modelId="{8DC94CB4-CB51-48AA-A903-8D48D6F04D15}" type="presParOf" srcId="{5F900C6C-D4A6-4B46-854E-2B5773D4A6E0}" destId="{AA09AF89-9F92-4DE3-8268-411396A9D035}" srcOrd="3" destOrd="0" presId="urn:microsoft.com/office/officeart/2005/8/layout/vProcess5"/>
    <dgm:cxn modelId="{EE199836-704A-43FB-95FB-FBDD7A68C383}" type="presParOf" srcId="{5F900C6C-D4A6-4B46-854E-2B5773D4A6E0}" destId="{49076ECA-D37C-4561-9D2E-AABD268AAF32}" srcOrd="4" destOrd="0" presId="urn:microsoft.com/office/officeart/2005/8/layout/vProcess5"/>
    <dgm:cxn modelId="{1AD5C865-A1BD-40B5-BBDC-95254E2B3768}" type="presParOf" srcId="{5F900C6C-D4A6-4B46-854E-2B5773D4A6E0}" destId="{837ED72B-951D-4178-85DA-788F530066C1}" srcOrd="5" destOrd="0" presId="urn:microsoft.com/office/officeart/2005/8/layout/vProcess5"/>
    <dgm:cxn modelId="{C0C96B64-45A5-4007-9BF9-65936C338BDE}" type="presParOf" srcId="{5F900C6C-D4A6-4B46-854E-2B5773D4A6E0}" destId="{FAE70E27-D8CF-4F08-AE17-5C61C5B3F58E}" srcOrd="6" destOrd="0" presId="urn:microsoft.com/office/officeart/2005/8/layout/vProcess5"/>
    <dgm:cxn modelId="{DF363AD6-C593-46EF-BDDE-AA12E41B8E8D}" type="presParOf" srcId="{5F900C6C-D4A6-4B46-854E-2B5773D4A6E0}" destId="{121273BC-E256-48C6-A86A-5CAEBB55EC31}" srcOrd="7" destOrd="0" presId="urn:microsoft.com/office/officeart/2005/8/layout/vProcess5"/>
    <dgm:cxn modelId="{AD8E74B5-CC62-4129-993E-8EAAD938E339}" type="presParOf" srcId="{5F900C6C-D4A6-4B46-854E-2B5773D4A6E0}" destId="{E352FC71-CBAC-4B2F-8BB6-876955CA624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98F63-0479-4771-B996-C5075347FA1E}">
      <dsp:nvSpPr>
        <dsp:cNvPr id="0" name=""/>
        <dsp:cNvSpPr/>
      </dsp:nvSpPr>
      <dsp:spPr>
        <a:xfrm>
          <a:off x="0" y="3009376"/>
          <a:ext cx="3596705" cy="98774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Highlighted the importance of these parental guidance fields as crucial predictors for building our models.</a:t>
          </a:r>
        </a:p>
      </dsp:txBody>
      <dsp:txXfrm>
        <a:off x="0" y="3009376"/>
        <a:ext cx="3596705" cy="987744"/>
      </dsp:txXfrm>
    </dsp:sp>
    <dsp:sp modelId="{A97B6CB9-9326-4342-B270-AD318AB06073}">
      <dsp:nvSpPr>
        <dsp:cNvPr id="0" name=""/>
        <dsp:cNvSpPr/>
      </dsp:nvSpPr>
      <dsp:spPr>
        <a:xfrm rot="10800000">
          <a:off x="0" y="1505041"/>
          <a:ext cx="3596705" cy="1519151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Remedy: </a:t>
          </a:r>
          <a:r>
            <a:rPr lang="en-US" sz="1400" kern="1200"/>
            <a:t>U</a:t>
          </a:r>
          <a:r>
            <a:rPr lang="en-US" sz="1400" b="0" i="0" kern="1200"/>
            <a:t>tilized the parental guidance fields such as sex, violence, profanity, drugs, and intensity to infer and fill in the missing MPAA ratings.</a:t>
          </a:r>
          <a:endParaRPr lang="en-US" sz="1400" kern="1200"/>
        </a:p>
      </dsp:txBody>
      <dsp:txXfrm rot="10800000">
        <a:off x="0" y="1505041"/>
        <a:ext cx="3596705" cy="987099"/>
      </dsp:txXfrm>
    </dsp:sp>
    <dsp:sp modelId="{431EC38E-C24C-4661-945B-5EBF1D6E3419}">
      <dsp:nvSpPr>
        <dsp:cNvPr id="0" name=""/>
        <dsp:cNvSpPr/>
      </dsp:nvSpPr>
      <dsp:spPr>
        <a:xfrm rot="10800000">
          <a:off x="0" y="706"/>
          <a:ext cx="3596705" cy="1519151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Main Challenge: </a:t>
          </a:r>
          <a:r>
            <a:rPr lang="en-US" sz="1400" kern="1200"/>
            <a:t>Missing Data specifically MPAA rating. </a:t>
          </a:r>
        </a:p>
      </dsp:txBody>
      <dsp:txXfrm rot="10800000">
        <a:off x="0" y="706"/>
        <a:ext cx="3596705" cy="9870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BFEE0-5602-4DF8-A190-DEB561273130}">
      <dsp:nvSpPr>
        <dsp:cNvPr id="0" name=""/>
        <dsp:cNvSpPr/>
      </dsp:nvSpPr>
      <dsp:spPr>
        <a:xfrm>
          <a:off x="0" y="0"/>
          <a:ext cx="8607407" cy="1305401"/>
        </a:xfrm>
        <a:prstGeom prst="roundRect">
          <a:avLst>
            <a:gd name="adj" fmla="val 10000"/>
          </a:avLst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Main features included sex, violence, profanity, drugs, and intense.</a:t>
          </a:r>
        </a:p>
      </dsp:txBody>
      <dsp:txXfrm>
        <a:off x="38234" y="38234"/>
        <a:ext cx="7198777" cy="1228933"/>
      </dsp:txXfrm>
    </dsp:sp>
    <dsp:sp modelId="{AD9AD064-05BE-47D2-B72C-5870BA46A46A}">
      <dsp:nvSpPr>
        <dsp:cNvPr id="0" name=""/>
        <dsp:cNvSpPr/>
      </dsp:nvSpPr>
      <dsp:spPr>
        <a:xfrm>
          <a:off x="759477" y="1522968"/>
          <a:ext cx="8607407" cy="1305401"/>
        </a:xfrm>
        <a:prstGeom prst="roundRect">
          <a:avLst>
            <a:gd name="adj" fmla="val 10000"/>
          </a:avLst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Accuracy: 73.65%</a:t>
          </a:r>
        </a:p>
      </dsp:txBody>
      <dsp:txXfrm>
        <a:off x="797711" y="1561202"/>
        <a:ext cx="6922951" cy="1228933"/>
      </dsp:txXfrm>
    </dsp:sp>
    <dsp:sp modelId="{AA09AF89-9F92-4DE3-8268-411396A9D035}">
      <dsp:nvSpPr>
        <dsp:cNvPr id="0" name=""/>
        <dsp:cNvSpPr/>
      </dsp:nvSpPr>
      <dsp:spPr>
        <a:xfrm>
          <a:off x="1518954" y="3045936"/>
          <a:ext cx="8607407" cy="1305401"/>
        </a:xfrm>
        <a:prstGeom prst="roundRect">
          <a:avLst>
            <a:gd name="adj" fmla="val 10000"/>
          </a:avLst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Evaluation: Correctly predicted Shek 2 MPAA rating as PG.  </a:t>
          </a:r>
        </a:p>
      </dsp:txBody>
      <dsp:txXfrm>
        <a:off x="1557188" y="3084170"/>
        <a:ext cx="6922951" cy="1228933"/>
      </dsp:txXfrm>
    </dsp:sp>
    <dsp:sp modelId="{49076ECA-D37C-4561-9D2E-AABD268AAF32}">
      <dsp:nvSpPr>
        <dsp:cNvPr id="0" name=""/>
        <dsp:cNvSpPr/>
      </dsp:nvSpPr>
      <dsp:spPr>
        <a:xfrm>
          <a:off x="7758896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49811" y="989929"/>
        <a:ext cx="466680" cy="638504"/>
      </dsp:txXfrm>
    </dsp:sp>
    <dsp:sp modelId="{837ED72B-951D-4178-85DA-788F530066C1}">
      <dsp:nvSpPr>
        <dsp:cNvPr id="0" name=""/>
        <dsp:cNvSpPr/>
      </dsp:nvSpPr>
      <dsp:spPr>
        <a:xfrm>
          <a:off x="8518373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709288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1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828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80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89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9" name="Freeform 15">
            <a:extLst>
              <a:ext uri="{FF2B5EF4-FFF2-40B4-BE49-F238E27FC236}">
                <a16:creationId xmlns:a16="http://schemas.microsoft.com/office/drawing/2014/main" id="{31267040-DB24-98E9-EEE1-79426F3CA0C7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9AB713D3-77E7-C596-C011-9A6C3173D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4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44151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1914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9835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07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4806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16314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17859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96738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21652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8847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6842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3347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1"/>
            <a:ext cx="10506416" cy="1128519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763DD79-6EE3-B8D8-0CBF-2151E3515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438" y="2090460"/>
            <a:ext cx="4729163" cy="3271838"/>
          </a:xfrm>
          <a:custGeom>
            <a:avLst/>
            <a:gdLst>
              <a:gd name="connsiteX0" fmla="*/ 0 w 4729163"/>
              <a:gd name="connsiteY0" fmla="*/ 0 h 3271838"/>
              <a:gd name="connsiteX1" fmla="*/ 4729163 w 4729163"/>
              <a:gd name="connsiteY1" fmla="*/ 0 h 3271838"/>
              <a:gd name="connsiteX2" fmla="*/ 4729163 w 4729163"/>
              <a:gd name="connsiteY2" fmla="*/ 1519113 h 3271838"/>
              <a:gd name="connsiteX3" fmla="*/ 4674888 w 4729163"/>
              <a:gd name="connsiteY3" fmla="*/ 1524585 h 3271838"/>
              <a:gd name="connsiteX4" fmla="*/ 4145679 w 4729163"/>
              <a:gd name="connsiteY4" fmla="*/ 2173901 h 3271838"/>
              <a:gd name="connsiteX5" fmla="*/ 4674888 w 4729163"/>
              <a:gd name="connsiteY5" fmla="*/ 2823218 h 3271838"/>
              <a:gd name="connsiteX6" fmla="*/ 4729163 w 4729163"/>
              <a:gd name="connsiteY6" fmla="*/ 2828689 h 3271838"/>
              <a:gd name="connsiteX7" fmla="*/ 4729163 w 4729163"/>
              <a:gd name="connsiteY7" fmla="*/ 3271838 h 3271838"/>
              <a:gd name="connsiteX8" fmla="*/ 0 w 4729163"/>
              <a:gd name="connsiteY8" fmla="*/ 3271838 h 327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9163" h="3271838">
                <a:moveTo>
                  <a:pt x="0" y="0"/>
                </a:moveTo>
                <a:lnTo>
                  <a:pt x="4729163" y="0"/>
                </a:lnTo>
                <a:lnTo>
                  <a:pt x="4729163" y="1519113"/>
                </a:lnTo>
                <a:lnTo>
                  <a:pt x="4674888" y="1524585"/>
                </a:lnTo>
                <a:cubicBezTo>
                  <a:pt x="4372869" y="1586387"/>
                  <a:pt x="4145679" y="1853613"/>
                  <a:pt x="4145679" y="2173901"/>
                </a:cubicBezTo>
                <a:cubicBezTo>
                  <a:pt x="4145679" y="2494190"/>
                  <a:pt x="4372869" y="2761416"/>
                  <a:pt x="4674888" y="2823218"/>
                </a:cubicBezTo>
                <a:lnTo>
                  <a:pt x="4729163" y="2828689"/>
                </a:lnTo>
                <a:lnTo>
                  <a:pt x="4729163" y="3271838"/>
                </a:lnTo>
                <a:lnTo>
                  <a:pt x="0" y="32718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8650" y="2087562"/>
            <a:ext cx="4375150" cy="38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3A22C8-6F2C-1CDE-8309-91BEE025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2117" y="3601579"/>
            <a:ext cx="1325563" cy="1325563"/>
          </a:xfrm>
          <a:prstGeom prst="ellipse">
            <a:avLst/>
          </a:pr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D6503F-0A61-068C-55A7-DCFF406FB3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B612C-940F-4C41-D28D-9328F15241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87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330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383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23487"/>
          <a:stretch/>
        </p:blipFill>
        <p:spPr>
          <a:xfrm>
            <a:off x="2531165" y="2125402"/>
            <a:ext cx="927983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500" y="1155320"/>
            <a:ext cx="8244113" cy="970081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defRPr sz="3000" b="0" i="0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04A311B-BF0E-4ABD-250E-58093E12EC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8500" y="2229358"/>
            <a:ext cx="7044643" cy="55918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 b="1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444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227E488-456A-A645-EEF4-38AAED9C5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327" y="1747520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4825303-FCCD-E705-1213-BF7CF16DF7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326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5524" y="5567730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A9E795C-FED0-FB6B-2D18-0BDABCA2C5B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8996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F18F814-0B06-5B49-EC7F-2FFDDB498F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8996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518B0AC6-8555-9EC9-31D5-2D41E9278A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31421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1026B989-CBAD-BCCA-CE61-AC5ABC3F875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39567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A6E4A81-98BC-4A0B-637E-A8A4EF704A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9567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71F3A8D-7485-35BA-4D51-752E669CD5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0967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C3EE756-2FF0-64E0-D905-235B8973F7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5515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5068E76-B8E5-A95C-FAAC-7F43B2481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515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9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5985B1DB-E488-ABA9-E8FB-18D2006DCE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513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C1105-93C5-0E50-1656-271A54E5D97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4F48D-1D23-34DB-1FB6-07EEB752692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572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8D869122-E2BC-ED44-681B-43F70BEF8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255CBD6C-C281-8722-27D4-3D2CC5788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0665" y="1650517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1774C4E-7344-8232-3750-E424576E1D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81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1CE5D490-4727-FFF1-4BFF-A3DED42ECA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5312" y="358765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53802057-01C6-8655-30FA-091AC2692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38242" y="1656748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9E47AF5-CB74-C3EB-76CA-1CA76678E2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362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890DFA6A-3356-DE98-022D-0DA202FBFD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4201" y="358977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4EB02CDB-488A-8142-CAF9-8E37FFF7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5819" y="166297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F3265D0-915B-E319-A154-B81C7A2C5B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3813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CC0A1957-087D-BAC8-2FD3-C7879A14D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090" y="359400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C0FA0782-5A43-CA2A-3152-A02B9D5D74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33396" y="166920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922E682-729B-97DE-1956-5B8FDDB7A7B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31390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8A2E2333-661F-499A-4099-13003D5327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31978" y="359189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C2B0E64-6036-C50A-4B09-3307E136D0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665" y="4221285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1360129-7F80-B48D-D46B-A111F17E47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1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34A00EE2-7DE2-BF48-E0C1-81C2158B41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5312" y="615040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90EE9725-A8CC-5A72-59F1-663EECC9FDF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38242" y="4218973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74C74F1-405C-C6EE-A607-2236B9B08E0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362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F3B25311-1AE4-31EC-9514-AD4642A2B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4201" y="6151618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EA14E23B-F3B1-C7A2-B03A-1CEABC2E4CF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5819" y="422012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914135F-F251-D319-FE2A-787B519F90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83813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A39619BE-B308-86FC-D02B-5B8AE1C8B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3090" y="614918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D44FC776-875A-9EAD-435C-F5D0F3DF38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3396" y="4222440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B9DED069-060F-0176-B4A9-26120A147B7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1390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8">
            <a:extLst>
              <a:ext uri="{FF2B5EF4-FFF2-40B4-BE49-F238E27FC236}">
                <a16:creationId xmlns:a16="http://schemas.microsoft.com/office/drawing/2014/main" id="{4AD10861-EBBA-146D-C4EC-C0252F808B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31978" y="6152835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2A1B4-8B38-9645-3655-35A4232B984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77F83-709B-A595-838B-A50CBBA8DB7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85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1">
            <a:extLst>
              <a:ext uri="{FF2B5EF4-FFF2-40B4-BE49-F238E27FC236}">
                <a16:creationId xmlns:a16="http://schemas.microsoft.com/office/drawing/2014/main" id="{3995F526-330B-DAB7-25A1-EFA47C9C8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93B8605C-A60E-DE47-5851-9BF04601C8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790" y="1864186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7B436DCE-21AD-38E2-5C66-1BA0938511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805" y="2553205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3A8FAFF0-E023-1B32-CC58-E8ABA8632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790" y="4057317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B73215FA-B8EB-7DD7-837F-F76B74F837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1805" y="4746336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ED9AA9-2FB1-B400-47C0-803090B07B01}"/>
              </a:ext>
            </a:extLst>
          </p:cNvPr>
          <p:cNvSpPr/>
          <p:nvPr userDrawn="1"/>
        </p:nvSpPr>
        <p:spPr>
          <a:xfrm>
            <a:off x="7793831" y="810843"/>
            <a:ext cx="3091172" cy="5597912"/>
          </a:xfrm>
          <a:prstGeom prst="rect">
            <a:avLst/>
          </a:prstGeom>
          <a:solidFill>
            <a:schemeClr val="accent1">
              <a:alpha val="9323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4510" y="1066373"/>
            <a:ext cx="2243137" cy="4929188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DE571619-8CCB-E378-472D-84C8ED7F8A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91099" y="1066373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4A772672-1696-B0AC-34A7-37560F101D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91099" y="3716568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35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15" y="2046038"/>
            <a:ext cx="4831207" cy="356813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66" y="1112838"/>
            <a:ext cx="3475649" cy="497522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0733" y="2803273"/>
            <a:ext cx="2121408" cy="2121408"/>
          </a:xfrm>
          <a:prstGeom prst="ellipse">
            <a:avLst/>
          </a:prstGeom>
          <a:solidFill>
            <a:schemeClr val="accent1">
              <a:alpha val="72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58537" y="4711495"/>
            <a:ext cx="192024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268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C7A66511-B85E-197E-52D6-398E0BABD4A3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6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3790988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DD54-AC6C-8FD6-3ABF-282F1F124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BBA03-8EAF-9651-6DC8-7316BA1FE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46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768" y="633753"/>
            <a:ext cx="7414940" cy="57832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8" y="1313284"/>
            <a:ext cx="6226593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84902"/>
            <a:ext cx="4567228" cy="1877976"/>
          </a:xfrm>
        </p:spPr>
        <p:txBody>
          <a:bodyPr lIns="0" tIns="0" rIns="0" bIns="0">
            <a:no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409576"/>
            <a:ext cx="5789913" cy="6067424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reeform 5" descr="Man looking up at skyscrapers">
            <a:extLst>
              <a:ext uri="{FF2B5EF4-FFF2-40B4-BE49-F238E27FC236}">
                <a16:creationId xmlns:a16="http://schemas.microsoft.com/office/drawing/2014/main" id="{7BCB4311-6C5C-4FCF-5824-E1C8254AC360}"/>
              </a:ext>
            </a:extLst>
          </p:cNvPr>
          <p:cNvSpPr/>
          <p:nvPr userDrawn="1"/>
        </p:nvSpPr>
        <p:spPr>
          <a:xfrm rot="2329651">
            <a:off x="-532604" y="2895950"/>
            <a:ext cx="5658498" cy="5088743"/>
          </a:xfrm>
          <a:custGeom>
            <a:avLst/>
            <a:gdLst>
              <a:gd name="connsiteX0" fmla="*/ 1041364 w 5658498"/>
              <a:gd name="connsiteY0" fmla="*/ 660618 h 5088743"/>
              <a:gd name="connsiteX1" fmla="*/ 2881574 w 5658498"/>
              <a:gd name="connsiteY1" fmla="*/ 0 h 5088743"/>
              <a:gd name="connsiteX2" fmla="*/ 5644500 w 5658498"/>
              <a:gd name="connsiteY2" fmla="*/ 2032703 h 5088743"/>
              <a:gd name="connsiteX3" fmla="*/ 5658498 w 5658498"/>
              <a:gd name="connsiteY3" fmla="*/ 2087143 h 5088743"/>
              <a:gd name="connsiteX4" fmla="*/ 1928931 w 5658498"/>
              <a:gd name="connsiteY4" fmla="*/ 5088743 h 5088743"/>
              <a:gd name="connsiteX5" fmla="*/ 0 w 5658498"/>
              <a:gd name="connsiteY5" fmla="*/ 2691993 h 5088743"/>
              <a:gd name="connsiteX6" fmla="*/ 7450 w 5658498"/>
              <a:gd name="connsiteY6" fmla="*/ 2560795 h 5088743"/>
              <a:gd name="connsiteX7" fmla="*/ 1041364 w 5658498"/>
              <a:gd name="connsiteY7" fmla="*/ 660618 h 508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8498" h="5088743">
                <a:moveTo>
                  <a:pt x="1041364" y="660618"/>
                </a:moveTo>
                <a:cubicBezTo>
                  <a:pt x="1541443" y="247916"/>
                  <a:pt x="2182557" y="0"/>
                  <a:pt x="2881574" y="0"/>
                </a:cubicBezTo>
                <a:cubicBezTo>
                  <a:pt x="4179749" y="0"/>
                  <a:pt x="5278215" y="855058"/>
                  <a:pt x="5644500" y="2032703"/>
                </a:cubicBezTo>
                <a:lnTo>
                  <a:pt x="5658498" y="2087143"/>
                </a:lnTo>
                <a:lnTo>
                  <a:pt x="1928931" y="5088743"/>
                </a:lnTo>
                <a:lnTo>
                  <a:pt x="0" y="2691993"/>
                </a:lnTo>
                <a:lnTo>
                  <a:pt x="7450" y="2560795"/>
                </a:lnTo>
                <a:cubicBezTo>
                  <a:pt x="94683" y="1797754"/>
                  <a:pt x="478776" y="1124908"/>
                  <a:pt x="1041364" y="660618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8000" contras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5704EA-7A65-5CC2-D428-F28396B06208}"/>
              </a:ext>
            </a:extLst>
          </p:cNvPr>
          <p:cNvSpPr/>
          <p:nvPr userDrawn="1"/>
        </p:nvSpPr>
        <p:spPr>
          <a:xfrm>
            <a:off x="356461" y="2238899"/>
            <a:ext cx="1411557" cy="1411557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880" y="1781357"/>
            <a:ext cx="5157787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880" y="2605269"/>
            <a:ext cx="5157787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292" y="1781357"/>
            <a:ext cx="5183188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2292" y="2605269"/>
            <a:ext cx="5183188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EB52FD-12DF-7F90-E06C-0C83CEB26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5B760E-02DF-5B11-D744-D98DE8A01E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FEC7-DD3B-F9AE-2192-83960534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smtClean="0"/>
              <a:t>3/22/2024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9D4F62-05DC-6049-9DF5-50C40AA558C7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9056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10" r:id="rId19"/>
    <p:sldLayoutId id="2147483711" r:id="rId20"/>
    <p:sldLayoutId id="2147483649" r:id="rId21"/>
    <p:sldLayoutId id="2147483665" r:id="rId22"/>
    <p:sldLayoutId id="2147483653" r:id="rId23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152" userDrawn="1">
          <p15:clr>
            <a:srgbClr val="547EBF"/>
          </p15:clr>
        </p15:guide>
        <p15:guide id="3" pos="7440" userDrawn="1">
          <p15:clr>
            <a:srgbClr val="547EBF"/>
          </p15:clr>
        </p15:guide>
        <p15:guide id="4" orient="horz" pos="4080" userDrawn="1">
          <p15:clr>
            <a:srgbClr val="547EBF"/>
          </p15:clr>
        </p15:guide>
        <p15:guide id="5" userDrawn="1">
          <p15:clr>
            <a:srgbClr val="547EBF"/>
          </p15:clr>
        </p15:guide>
        <p15:guide id="6" pos="7680" userDrawn="1">
          <p15:clr>
            <a:srgbClr val="547EBF"/>
          </p15:clr>
        </p15:guide>
        <p15:guide id="7" pos="528" userDrawn="1">
          <p15:clr>
            <a:srgbClr val="547EBF"/>
          </p15:clr>
        </p15:guide>
        <p15:guide id="8" pos="6912" userDrawn="1">
          <p15:clr>
            <a:srgbClr val="547EBF"/>
          </p15:clr>
        </p15:guide>
        <p15:guide id="9" orient="horz" pos="240" userDrawn="1">
          <p15:clr>
            <a:srgbClr val="547EBF"/>
          </p15:clr>
        </p15:guide>
        <p15:guide id="10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png"/><Relationship Id="rId7" Type="http://schemas.openxmlformats.org/officeDocument/2006/relationships/diagramData" Target="../diagrams/data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11" Type="http://schemas.microsoft.com/office/2007/relationships/diagramDrawing" Target="../diagrams/drawing1.xml"/><Relationship Id="rId5" Type="http://schemas.openxmlformats.org/officeDocument/2006/relationships/image" Target="../media/image10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arryhaworth/imdb-parental-guid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hyperlink" Target="https://grouplens.org/datasets/movielens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47E635D-C3B4-465B-AF24-991B6BF63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A0623D0-396B-499E-BBFB-C17F1BB0F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DFA1ED-640C-A911-8162-857F83AE05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22700" r="-1" b="21049"/>
          <a:stretch/>
        </p:blipFill>
        <p:spPr>
          <a:xfrm>
            <a:off x="19965" y="-2"/>
            <a:ext cx="12191695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1AF192C-698D-4635-9C9F-F9769A56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1794" y="2257926"/>
            <a:ext cx="5816024" cy="2623459"/>
          </a:xfrm>
        </p:spPr>
        <p:txBody>
          <a:bodyPr>
            <a:normAutofit/>
          </a:bodyPr>
          <a:lstStyle/>
          <a:p>
            <a:pPr algn="l"/>
            <a:r>
              <a:rPr lang="en-US" sz="4600" b="1" dirty="0"/>
              <a:t>Predicting and Comparing MPAA Ratings for "Shrek 2"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FD8D3D-82CB-EA16-814E-A3FED8BBF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5387" y="5278715"/>
            <a:ext cx="5676648" cy="154748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200" dirty="0"/>
              <a:t>Glory Onyeugbo and Amelia Green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IST 718: Big Data Analytics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March 17, 2024</a:t>
            </a:r>
          </a:p>
          <a:p>
            <a:pPr>
              <a:lnSpc>
                <a:spcPct val="110000"/>
              </a:lnSpc>
            </a:pPr>
            <a:r>
              <a:rPr lang="en-US" sz="1200" dirty="0"/>
              <a:t>Professor </a:t>
            </a:r>
            <a:r>
              <a:rPr lang="en-US" sz="1200" dirty="0" err="1"/>
              <a:t>Lando</a:t>
            </a:r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E56C4B-C9E0-4F01-AF43-E69279A06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654A17-56DA-4921-A42B-DE255FA66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5B6243D-1659-4D4B-806E-6EB5F798A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4FECEB1-EC11-4546-A647-2BC14FFC4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681A340-4E9C-4A53-8BF1-A9554FC8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AB25C7-C9A2-4029-B780-972A17ACB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519CBC-04B6-49F8-BE9C-C3FA4966C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D9536D-8205-4CE1-B98A-CE9695A7F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872EB9-81ED-49FE-81A8-B2DE3B3CD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5E326A3-EB92-4BDA-9F77-45197E0C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4E7D395-0531-4A17-A276-FDA3EB77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CAC996C7-7B84-4645-9AA1-6EA85EAB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229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984E2-4C7E-D7E0-9603-A0CE74BC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91" y="1064365"/>
            <a:ext cx="2856582" cy="3313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400" cap="none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DC315B-5680-47D9-B827-34D012FB1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769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50CB90F-9D48-F8DD-961F-C3F1AE2B2D3D}"/>
              </a:ext>
            </a:extLst>
          </p:cNvPr>
          <p:cNvSpPr>
            <a:spLocks/>
          </p:cNvSpPr>
          <p:nvPr/>
        </p:nvSpPr>
        <p:spPr>
          <a:xfrm>
            <a:off x="6369420" y="1171649"/>
            <a:ext cx="5027448" cy="4771011"/>
          </a:xfrm>
          <a:prstGeom prst="rect">
            <a:avLst/>
          </a:prstGeom>
        </p:spPr>
        <p:txBody>
          <a:bodyPr/>
          <a:lstStyle/>
          <a:p>
            <a:pPr defTabSz="470916">
              <a:spcAft>
                <a:spcPts val="600"/>
              </a:spcAft>
            </a:pPr>
            <a:r>
              <a:rPr lang="en-US" sz="185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Introduction / Objective</a:t>
            </a:r>
          </a:p>
          <a:p>
            <a:pPr defTabSz="470916">
              <a:spcAft>
                <a:spcPts val="600"/>
              </a:spcAft>
            </a:pPr>
            <a:r>
              <a:rPr lang="en-US" sz="185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Sources</a:t>
            </a:r>
          </a:p>
          <a:p>
            <a:pPr defTabSz="470916">
              <a:spcAft>
                <a:spcPts val="600"/>
              </a:spcAft>
            </a:pPr>
            <a:r>
              <a:rPr lang="en-US" sz="185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Observations</a:t>
            </a:r>
          </a:p>
          <a:p>
            <a:pPr defTabSz="470916">
              <a:spcAft>
                <a:spcPts val="600"/>
              </a:spcAft>
            </a:pPr>
            <a:r>
              <a:rPr lang="en-US" sz="185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</a:t>
            </a:r>
          </a:p>
          <a:p>
            <a:pPr defTabSz="470916">
              <a:spcAft>
                <a:spcPts val="600"/>
              </a:spcAft>
            </a:pPr>
            <a:r>
              <a:rPr lang="en-US" sz="185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Recommendations</a:t>
            </a:r>
          </a:p>
          <a:p>
            <a:pPr defTabSz="470916">
              <a:spcAft>
                <a:spcPts val="600"/>
              </a:spcAft>
            </a:pPr>
            <a:endParaRPr lang="en-US" sz="1854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78531-1E9F-3E5A-7A85-E9CA9A5C7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7182" y="2526653"/>
            <a:ext cx="261839" cy="2154168"/>
          </a:xfrm>
          <a:prstGeom prst="rect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35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Placeholder 14" descr="White modern architecture">
            <a:extLst>
              <a:ext uri="{FF2B5EF4-FFF2-40B4-BE49-F238E27FC236}">
                <a16:creationId xmlns:a16="http://schemas.microsoft.com/office/drawing/2014/main" id="{6D77A1A7-7876-7DF9-AF3A-C47588011CB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650" r="-1" b="14120"/>
          <a:stretch/>
        </p:blipFill>
        <p:spPr>
          <a:xfrm>
            <a:off x="-1828" y="-2718"/>
            <a:ext cx="12191695" cy="68579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752655-72F7-26B4-5DA5-07E2346C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Introduction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2D1EE3-10BA-7879-1DC3-ACF7D443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07" y="164592"/>
            <a:ext cx="636727" cy="3228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9A01C0A-2BB6-49E7-91A3-DCB9F9F59583}" type="slidenum">
              <a:rPr lang="en-US" sz="15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5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C01B0-7BC5-5869-A281-EF11B59BA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8221" y="1544116"/>
            <a:ext cx="7959560" cy="3997828"/>
          </a:xfrm>
        </p:spPr>
        <p:txBody>
          <a:bodyPr>
            <a:normAutofit/>
          </a:bodyPr>
          <a:lstStyle/>
          <a:p>
            <a:r>
              <a:rPr lang="en-US" dirty="0"/>
              <a:t>Problem Statement: Predicting the MPAA rating for </a:t>
            </a:r>
            <a:r>
              <a:rPr lang="en-US" u="sng" dirty="0"/>
              <a:t>Shrek 2</a:t>
            </a:r>
            <a:r>
              <a:rPr lang="en-US" dirty="0"/>
              <a:t>.</a:t>
            </a:r>
          </a:p>
          <a:p>
            <a:r>
              <a:rPr lang="en-US" dirty="0"/>
              <a:t>Business Questions: 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features significantly influence the MPAA rating for "Shrek 2" and   potentially all movies?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accurate can we predict the MPAA rating for "Shrek 2"?</a:t>
            </a:r>
            <a:endParaRPr lang="en-US" dirty="0"/>
          </a:p>
          <a:p>
            <a:r>
              <a:rPr lang="en-US" dirty="0"/>
              <a:t>Hypothesis: The parental guide fields including sex, violence, profanity, drugs, and intensity will have a significant impact on a movie's rating.</a:t>
            </a:r>
          </a:p>
        </p:txBody>
      </p:sp>
    </p:spTree>
    <p:extLst>
      <p:ext uri="{BB962C8B-B14F-4D97-AF65-F5344CB8AC3E}">
        <p14:creationId xmlns:p14="http://schemas.microsoft.com/office/powerpoint/2010/main" val="612500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B0B43F-2CE7-4C6C-BABC-EE342B328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459F07-63F9-48CF-B725-A873C4BC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B83E1E-DAC1-4851-84FF-D6FE1649D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F3CF990-ACB8-443A-BB74-D36EC8A00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01900C-265D-4146-A578-477541E3D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0B98862-BEE1-44FB-A335-A1B9106B4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5F94F98-3A57-49AA-838E-91AAF600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678519" y="-1660968"/>
            <a:ext cx="5838229" cy="11188733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25000">
                <a:schemeClr val="accent1">
                  <a:alpha val="0"/>
                </a:schemeClr>
              </a:gs>
              <a:gs pos="100000">
                <a:schemeClr val="accent1">
                  <a:alpha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41F8C064-2DC5-4758-B49C-76BFF6405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tx2">
              <a:lumMod val="1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BD68200-BC03-4015-860B-CD5C30CD7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542" y="0"/>
            <a:ext cx="7875912" cy="6858000"/>
          </a:xfrm>
          <a:custGeom>
            <a:avLst/>
            <a:gdLst>
              <a:gd name="connsiteX0" fmla="*/ 0 w 7821919"/>
              <a:gd name="connsiteY0" fmla="*/ 0 h 6858000"/>
              <a:gd name="connsiteX1" fmla="*/ 6983367 w 7821919"/>
              <a:gd name="connsiteY1" fmla="*/ 0 h 6858000"/>
              <a:gd name="connsiteX2" fmla="*/ 6982269 w 7821919"/>
              <a:gd name="connsiteY2" fmla="*/ 1331 h 6858000"/>
              <a:gd name="connsiteX3" fmla="*/ 6833782 w 7821919"/>
              <a:gd name="connsiteY3" fmla="*/ 487443 h 6858000"/>
              <a:gd name="connsiteX4" fmla="*/ 6851446 w 7821919"/>
              <a:gd name="connsiteY4" fmla="*/ 662666 h 6858000"/>
              <a:gd name="connsiteX5" fmla="*/ 6857532 w 7821919"/>
              <a:gd name="connsiteY5" fmla="*/ 686333 h 6858000"/>
              <a:gd name="connsiteX6" fmla="*/ 6806927 w 7821919"/>
              <a:gd name="connsiteY6" fmla="*/ 699345 h 6858000"/>
              <a:gd name="connsiteX7" fmla="*/ 5555365 w 7821919"/>
              <a:gd name="connsiteY7" fmla="*/ 2400515 h 6858000"/>
              <a:gd name="connsiteX8" fmla="*/ 7336617 w 7821919"/>
              <a:gd name="connsiteY8" fmla="*/ 4181767 h 6858000"/>
              <a:gd name="connsiteX9" fmla="*/ 7452815 w 7821919"/>
              <a:gd name="connsiteY9" fmla="*/ 4175900 h 6858000"/>
              <a:gd name="connsiteX10" fmla="*/ 7437456 w 7821919"/>
              <a:gd name="connsiteY10" fmla="*/ 4225378 h 6858000"/>
              <a:gd name="connsiteX11" fmla="*/ 7428275 w 7821919"/>
              <a:gd name="connsiteY11" fmla="*/ 4316448 h 6858000"/>
              <a:gd name="connsiteX12" fmla="*/ 7789089 w 7821919"/>
              <a:gd name="connsiteY12" fmla="*/ 4759152 h 6858000"/>
              <a:gd name="connsiteX13" fmla="*/ 7821919 w 7821919"/>
              <a:gd name="connsiteY13" fmla="*/ 4762461 h 6858000"/>
              <a:gd name="connsiteX14" fmla="*/ 7809638 w 7821919"/>
              <a:gd name="connsiteY14" fmla="*/ 4785088 h 6858000"/>
              <a:gd name="connsiteX15" fmla="*/ 7794661 w 7821919"/>
              <a:gd name="connsiteY15" fmla="*/ 4833335 h 6858000"/>
              <a:gd name="connsiteX16" fmla="*/ 7524776 w 7821919"/>
              <a:gd name="connsiteY16" fmla="*/ 4917113 h 6858000"/>
              <a:gd name="connsiteX17" fmla="*/ 6642110 w 7821919"/>
              <a:gd name="connsiteY17" fmla="*/ 6248746 h 6858000"/>
              <a:gd name="connsiteX18" fmla="*/ 6755682 w 7821919"/>
              <a:gd name="connsiteY18" fmla="*/ 6811285 h 6858000"/>
              <a:gd name="connsiteX19" fmla="*/ 6778185 w 7821919"/>
              <a:gd name="connsiteY19" fmla="*/ 6858000 h 6858000"/>
              <a:gd name="connsiteX20" fmla="*/ 0 w 7821919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21919" h="6858000">
                <a:moveTo>
                  <a:pt x="0" y="0"/>
                </a:moveTo>
                <a:lnTo>
                  <a:pt x="6983367" y="0"/>
                </a:lnTo>
                <a:lnTo>
                  <a:pt x="6982269" y="1331"/>
                </a:lnTo>
                <a:cubicBezTo>
                  <a:pt x="6888522" y="140095"/>
                  <a:pt x="6833782" y="307376"/>
                  <a:pt x="6833782" y="487443"/>
                </a:cubicBezTo>
                <a:cubicBezTo>
                  <a:pt x="6833782" y="547466"/>
                  <a:pt x="6839864" y="606067"/>
                  <a:pt x="6851446" y="662666"/>
                </a:cubicBezTo>
                <a:lnTo>
                  <a:pt x="6857532" y="686333"/>
                </a:lnTo>
                <a:lnTo>
                  <a:pt x="6806927" y="699345"/>
                </a:lnTo>
                <a:cubicBezTo>
                  <a:pt x="6081835" y="924872"/>
                  <a:pt x="5555365" y="1601212"/>
                  <a:pt x="5555365" y="2400515"/>
                </a:cubicBezTo>
                <a:cubicBezTo>
                  <a:pt x="5555365" y="3384273"/>
                  <a:pt x="6352859" y="4181767"/>
                  <a:pt x="7336617" y="4181767"/>
                </a:cubicBezTo>
                <a:lnTo>
                  <a:pt x="7452815" y="4175900"/>
                </a:lnTo>
                <a:lnTo>
                  <a:pt x="7437456" y="4225378"/>
                </a:lnTo>
                <a:cubicBezTo>
                  <a:pt x="7431436" y="4254794"/>
                  <a:pt x="7428275" y="4285252"/>
                  <a:pt x="7428275" y="4316448"/>
                </a:cubicBezTo>
                <a:cubicBezTo>
                  <a:pt x="7428275" y="4534821"/>
                  <a:pt x="7583172" y="4717015"/>
                  <a:pt x="7789089" y="4759152"/>
                </a:cubicBezTo>
                <a:lnTo>
                  <a:pt x="7821919" y="4762461"/>
                </a:lnTo>
                <a:lnTo>
                  <a:pt x="7809638" y="4785088"/>
                </a:lnTo>
                <a:lnTo>
                  <a:pt x="7794661" y="4833335"/>
                </a:lnTo>
                <a:lnTo>
                  <a:pt x="7524776" y="4917113"/>
                </a:lnTo>
                <a:cubicBezTo>
                  <a:pt x="7006070" y="5136507"/>
                  <a:pt x="6642110" y="5650122"/>
                  <a:pt x="6642110" y="6248746"/>
                </a:cubicBezTo>
                <a:cubicBezTo>
                  <a:pt x="6642110" y="6448287"/>
                  <a:pt x="6682550" y="6638383"/>
                  <a:pt x="6755682" y="6811285"/>
                </a:cubicBezTo>
                <a:lnTo>
                  <a:pt x="677818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2A6F87-AC28-4AA8-B8A6-AEBC67BD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7567" y="421698"/>
            <a:ext cx="967148" cy="967148"/>
          </a:xfrm>
          <a:prstGeom prst="ellipse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C8CC3-7107-300E-F28E-20A5D6EB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8901" y="808056"/>
            <a:ext cx="8381238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/>
              <a:t>Data 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68C79-AE91-FF3F-0612-FC961FFD3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8407" y="164592"/>
            <a:ext cx="636727" cy="322851"/>
          </a:xfrm>
        </p:spPr>
        <p:txBody>
          <a:bodyPr vert="horz" lIns="91440" tIns="45720" rIns="4572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9A01C0A-2BB6-49E7-91A3-DCB9F9F59583}" type="slidenum">
              <a:rPr lang="en-US" sz="15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5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2019C-5BC9-A628-7DDB-469DAE4B64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5400000">
            <a:off x="-2237130" y="3661144"/>
            <a:ext cx="5885352" cy="179176"/>
          </a:xfrm>
        </p:spPr>
        <p:txBody>
          <a:bodyPr vert="horz" lIns="91440" tIns="45720" rIns="91440" bIns="18288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Presentation Title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A166EE-FFBA-73A5-0459-C880966DF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56639" y="2052116"/>
            <a:ext cx="6572814" cy="3997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b="1" i="1" dirty="0"/>
              <a:t>IMDB Parental Guide</a:t>
            </a: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</a:pPr>
            <a:r>
              <a:rPr lang="en-US" sz="1800" b="1" dirty="0"/>
              <a:t>        - Rows: </a:t>
            </a:r>
            <a:r>
              <a:rPr lang="en-US" sz="1800" dirty="0"/>
              <a:t>53,000+</a:t>
            </a: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</a:pPr>
            <a:r>
              <a:rPr lang="en-US" sz="1800" b="1" dirty="0"/>
              <a:t>        - Columns: </a:t>
            </a:r>
            <a:r>
              <a:rPr lang="en-US" sz="1800" dirty="0"/>
              <a:t>22</a:t>
            </a:r>
          </a:p>
          <a:p>
            <a:pPr>
              <a:lnSpc>
                <a:spcPct val="110000"/>
              </a:lnSpc>
            </a:pPr>
            <a:r>
              <a:rPr lang="en-US" sz="1800" b="1" i="1" dirty="0"/>
              <a:t>Movie Lens</a:t>
            </a: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</a:pPr>
            <a:r>
              <a:rPr lang="en-US" sz="1800" b="1" dirty="0"/>
              <a:t>        - Rows: </a:t>
            </a:r>
            <a:r>
              <a:rPr lang="en-US" sz="1800" dirty="0"/>
              <a:t>45,000+</a:t>
            </a:r>
          </a:p>
          <a:p>
            <a:pPr marL="0" marR="0" lvl="0" indent="0">
              <a:lnSpc>
                <a:spcPct val="110000"/>
              </a:lnSpc>
              <a:spcBef>
                <a:spcPts val="0"/>
              </a:spcBef>
            </a:pPr>
            <a:r>
              <a:rPr lang="en-US" sz="1800" b="1" dirty="0"/>
              <a:t>        - Columns: </a:t>
            </a:r>
            <a:r>
              <a:rPr lang="en-US" sz="1800" dirty="0"/>
              <a:t>24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b="1" i="1" dirty="0"/>
              <a:t>Movies data frame: </a:t>
            </a:r>
            <a:r>
              <a:rPr lang="en-US" sz="1800" dirty="0"/>
              <a:t>Combined the two datasets in </a:t>
            </a:r>
            <a:r>
              <a:rPr lang="en-US" sz="1800" dirty="0" err="1"/>
              <a:t>imdb_ID</a:t>
            </a:r>
            <a:r>
              <a:rPr lang="en-US" sz="1800" dirty="0"/>
              <a:t>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b="1" dirty="0"/>
              <a:t>- Rows: </a:t>
            </a:r>
            <a:r>
              <a:rPr lang="en-US" sz="1800" dirty="0"/>
              <a:t>26,000+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b="1" dirty="0"/>
              <a:t>- Columns: </a:t>
            </a:r>
            <a:r>
              <a:rPr lang="en-US" sz="1800" dirty="0"/>
              <a:t>27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800" dirty="0"/>
          </a:p>
          <a:p>
            <a:pPr>
              <a:lnSpc>
                <a:spcPct val="110000"/>
              </a:lnSpc>
            </a:pPr>
            <a:endParaRPr lang="en-US" sz="1800" b="1" i="1" dirty="0"/>
          </a:p>
        </p:txBody>
      </p:sp>
    </p:spTree>
    <p:extLst>
      <p:ext uri="{BB962C8B-B14F-4D97-AF65-F5344CB8AC3E}">
        <p14:creationId xmlns:p14="http://schemas.microsoft.com/office/powerpoint/2010/main" val="1643288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26AA7C31-76FD-4B44-A1FF-D13D2515A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5CE85F9-F4EE-4E5D-8235-528527A4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17338BB4-74FF-4836-86B7-F1B0C2B62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ABFA8A3-A231-4BC1-B8A5-C5BE7315C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747E59-EDB0-47FA-899B-0621ED112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2629343-044F-4737-89E9-3E1790341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B9C8E0-18D9-430D-B171-939E0EEEB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F7120094-F751-42E1-B59D-72A2C536A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6C7091D-18F8-4DE6-9C11-91BC9D7E7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6425E91-2273-4F07-89AF-063DFD7BC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3B69D29F-0F67-43FB-8597-E0B0E776F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74D7AF5-F625-47EB-8060-3E86FEFBE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57DFB23-3690-4736-B566-DE69F8D08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FB9C5-183A-3556-D047-215BDB00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134" y="672230"/>
            <a:ext cx="3763258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dirty="0"/>
              <a:t>Observations Pt.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3CCEA-C12A-DDE4-040B-E2BBFEC5AE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8407" y="164592"/>
            <a:ext cx="636727" cy="322851"/>
          </a:xfrm>
        </p:spPr>
        <p:txBody>
          <a:bodyPr vert="horz" lIns="91440" tIns="45720" rIns="4572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9A01C0A-2BB6-49E7-91A3-DCB9F9F59583}" type="slidenum">
              <a:rPr lang="en-US" sz="15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5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67E8BCC-9DC0-4B28-8657-D26A13CA8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761" y="0"/>
            <a:ext cx="55680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D00006-C361-9E8D-4A6E-2639C3D95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301" y="316486"/>
            <a:ext cx="1888409" cy="2950640"/>
          </a:xfrm>
          <a:prstGeom prst="rect">
            <a:avLst/>
          </a:prstGeom>
          <a:ln w="12700">
            <a:noFill/>
          </a:ln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F7F0CE1E-6F5F-41CD-9197-9100DF5C9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5563" y="232995"/>
            <a:ext cx="5087454" cy="3115093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A26DE274-DD7B-8A2A-EE37-9A976CC20DA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t="1632" b="1632"/>
          <a:stretch/>
        </p:blipFill>
        <p:spPr>
          <a:xfrm>
            <a:off x="2764253" y="3583572"/>
            <a:ext cx="2055820" cy="2946252"/>
          </a:xfrm>
          <a:prstGeom prst="rect">
            <a:avLst/>
          </a:prstGeom>
          <a:ln w="12700">
            <a:noFill/>
          </a:ln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E3094AF5-0837-4DE1-936E-9B8D6A0D5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5562" y="3509913"/>
            <a:ext cx="5087454" cy="3115093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513954-4B00-05C1-AEE7-7566E722D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636F75F-80DF-4329-9085-39EF7BF68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ext Placeholder 7">
            <a:extLst>
              <a:ext uri="{FF2B5EF4-FFF2-40B4-BE49-F238E27FC236}">
                <a16:creationId xmlns:a16="http://schemas.microsoft.com/office/drawing/2014/main" id="{154B29C4-0098-1EDC-9C95-86C5C6DDC4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0096826"/>
              </p:ext>
            </p:extLst>
          </p:nvPr>
        </p:nvGraphicFramePr>
        <p:xfrm>
          <a:off x="7548117" y="2052116"/>
          <a:ext cx="3596705" cy="3997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4295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>
            <a:extLst>
              <a:ext uri="{FF2B5EF4-FFF2-40B4-BE49-F238E27FC236}">
                <a16:creationId xmlns:a16="http://schemas.microsoft.com/office/drawing/2014/main" id="{B1395C1E-2648-4FFC-AC7C-2C1708351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1C7379FE-10D6-4FEA-BEA3-5E2034A44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90FB7BFA-EBDD-467C-B253-EFA700504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3A9D773-2FA9-4E93-A01A-AEECF93EB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0A08A6F-C28D-4C68-9627-9B83F062F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6DAD309-1212-498F-ABAD-388FFD32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F297EF4-1A36-4B32-9046-62BAFD8D8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5C20B5AE-2DF3-4293-AD4D-C11AD233A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00F2A8D-0033-418D-871B-CD795773E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C6EEF6DB-B22A-4752-AB3B-7D18C7B0C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95F478F0-A936-4A06-87B1-1673DAA3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17DFA8-DCB0-4F81-8ACD-2EF401B7B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C92049A-F832-48F5-B41A-162E03B40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2C975-C0D8-5635-3CD4-B28EE3571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5" y="808056"/>
            <a:ext cx="2668106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/>
              <a:t>Observations Pt. 2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7158D5-C54E-C1C2-70BB-D7F577BB8A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58407" y="164592"/>
            <a:ext cx="636727" cy="322851"/>
          </a:xfrm>
        </p:spPr>
        <p:txBody>
          <a:bodyPr vert="horz" lIns="91440" tIns="45720" rIns="4572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9A01C0A-2BB6-49E7-91A3-DCB9F9F59583}" type="slidenum">
              <a:rPr lang="en-US" sz="150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5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B6991-4690-5E5C-1B86-4715D2403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4444" y="2052116"/>
            <a:ext cx="2664217" cy="39978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/>
              <a:t> PG has the highest rating among the movies in the data, followed by R.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/>
              <a:t>Genres is highly skewed with drama leading.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16D006-982E-24A2-AD4F-02673E0FCC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011" r="-3" b="-3"/>
          <a:stretch/>
        </p:blipFill>
        <p:spPr>
          <a:xfrm>
            <a:off x="5436752" y="10"/>
            <a:ext cx="5948167" cy="343258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B179D3-3963-940A-C97A-1C72DA25E7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121" r="-3" b="-3"/>
          <a:stretch/>
        </p:blipFill>
        <p:spPr>
          <a:xfrm>
            <a:off x="5436753" y="3425635"/>
            <a:ext cx="5948167" cy="34325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15" name="Rectangle 114">
            <a:extLst>
              <a:ext uri="{FF2B5EF4-FFF2-40B4-BE49-F238E27FC236}">
                <a16:creationId xmlns:a16="http://schemas.microsoft.com/office/drawing/2014/main" id="{80D2A828-1594-434F-8D9B-E1475EF72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9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3EE70D-E301-217B-D1D0-99B4F566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650" y="326017"/>
            <a:ext cx="7950984" cy="1081705"/>
          </a:xfrm>
        </p:spPr>
        <p:txBody>
          <a:bodyPr/>
          <a:lstStyle/>
          <a:p>
            <a:pPr algn="ctr"/>
            <a:r>
              <a:rPr lang="en-US" dirty="0"/>
              <a:t>Observations Pt. 3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378716-7135-390C-E119-089461964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3966" y="1445179"/>
            <a:ext cx="3891960" cy="3997828"/>
          </a:xfrm>
        </p:spPr>
        <p:txBody>
          <a:bodyPr/>
          <a:lstStyle/>
          <a:p>
            <a:r>
              <a:rPr lang="en-US" dirty="0"/>
              <a:t>Genre may be a semi-predictor of what the rating will be. For example, most comedies are rated PG, followed by R. Same with dramas. </a:t>
            </a:r>
          </a:p>
          <a:p>
            <a:r>
              <a:rPr lang="en-US" dirty="0"/>
              <a:t>May consider it for our models.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0221A9-0CE5-F4A7-37F6-0607243FAE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51993" y="1445178"/>
            <a:ext cx="6822493" cy="472170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E0E86-7C6C-EBA5-7A9A-5BEFE5D9D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B4F74-1495-4149-7AB3-21FFFFCA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80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C921613-A2A4-672F-8CE1-64641C51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4" y="326017"/>
            <a:ext cx="10122632" cy="652054"/>
          </a:xfrm>
        </p:spPr>
        <p:txBody>
          <a:bodyPr/>
          <a:lstStyle/>
          <a:p>
            <a:r>
              <a:rPr lang="en-US" b="1" dirty="0"/>
              <a:t>Word Clouds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B7C966D4-C0C9-F9AA-B8C0-3770EAC247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84A6F-B04C-A205-798A-EC100C127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6164" y="1139496"/>
            <a:ext cx="5566091" cy="563418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Most used words include love, life, find, one, family.</a:t>
            </a:r>
          </a:p>
          <a:p>
            <a:r>
              <a:rPr lang="en-US" b="1" dirty="0">
                <a:solidFill>
                  <a:schemeClr val="bg1"/>
                </a:solidFill>
              </a:rPr>
              <a:t>Shrek 2 Overview: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“Shrek, Fiona and Donkey </a:t>
            </a:r>
            <a:r>
              <a:rPr lang="en-US" sz="1400" b="1" dirty="0">
                <a:solidFill>
                  <a:schemeClr val="bg1"/>
                </a:solidFill>
              </a:rPr>
              <a:t>set</a:t>
            </a:r>
            <a:r>
              <a:rPr lang="en-US" sz="1400" dirty="0">
                <a:solidFill>
                  <a:schemeClr val="bg1"/>
                </a:solidFill>
              </a:rPr>
              <a:t> off to Far, Far Away to meet Fiona's </a:t>
            </a:r>
            <a:r>
              <a:rPr lang="en-US" sz="1400" b="1" dirty="0">
                <a:solidFill>
                  <a:schemeClr val="bg1"/>
                </a:solidFill>
              </a:rPr>
              <a:t>mother</a:t>
            </a:r>
            <a:r>
              <a:rPr lang="en-US" sz="1400" dirty="0">
                <a:solidFill>
                  <a:schemeClr val="bg1"/>
                </a:solidFill>
              </a:rPr>
              <a:t> and </a:t>
            </a:r>
            <a:r>
              <a:rPr lang="en-US" sz="1400" b="1" dirty="0">
                <a:solidFill>
                  <a:schemeClr val="bg1"/>
                </a:solidFill>
              </a:rPr>
              <a:t>father</a:t>
            </a:r>
            <a:r>
              <a:rPr lang="en-US" sz="1400" dirty="0">
                <a:solidFill>
                  <a:schemeClr val="bg1"/>
                </a:solidFill>
              </a:rPr>
              <a:t>. But not everyone is happy. Shrek and the King </a:t>
            </a:r>
            <a:r>
              <a:rPr lang="en-US" sz="1400" b="1" dirty="0">
                <a:solidFill>
                  <a:schemeClr val="bg1"/>
                </a:solidFill>
              </a:rPr>
              <a:t>find</a:t>
            </a:r>
            <a:r>
              <a:rPr lang="en-US" sz="1400" dirty="0">
                <a:solidFill>
                  <a:schemeClr val="bg1"/>
                </a:solidFill>
              </a:rPr>
              <a:t> it hard to get along, and there's tension in the marriage. The fairy godmother discovers that Shrek has married Fiona instead of her Son Prince Charming and </a:t>
            </a:r>
            <a:r>
              <a:rPr lang="en-US" sz="1400" b="1" dirty="0">
                <a:solidFill>
                  <a:schemeClr val="bg1"/>
                </a:solidFill>
              </a:rPr>
              <a:t>sets</a:t>
            </a:r>
            <a:r>
              <a:rPr lang="en-US" sz="1400" dirty="0">
                <a:solidFill>
                  <a:schemeClr val="bg1"/>
                </a:solidFill>
              </a:rPr>
              <a:t> about destroying their marriage.”</a:t>
            </a:r>
          </a:p>
          <a:p>
            <a:r>
              <a:rPr lang="en-US" sz="1800" dirty="0">
                <a:solidFill>
                  <a:schemeClr val="bg1"/>
                </a:solidFill>
              </a:rPr>
              <a:t>Love and family is implied but not explicitly stated.</a:t>
            </a:r>
          </a:p>
          <a:p>
            <a:r>
              <a:rPr lang="en-US" sz="1800" dirty="0">
                <a:solidFill>
                  <a:schemeClr val="bg1"/>
                </a:solidFill>
              </a:rPr>
              <a:t>At this point, we found that parental guidance variables and possible genre were probably significant predictors.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AC55E6-1C77-112B-E593-5CEAFC722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55" y="1139496"/>
            <a:ext cx="5113338" cy="2749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30F5FE-1016-9670-155D-528552779A0A}"/>
              </a:ext>
            </a:extLst>
          </p:cNvPr>
          <p:cNvSpPr txBox="1"/>
          <p:nvPr/>
        </p:nvSpPr>
        <p:spPr>
          <a:xfrm>
            <a:off x="8880793" y="839571"/>
            <a:ext cx="1595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Overall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4BCDEC-709E-6D19-1DA7-44D3281B3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31" y="4050789"/>
            <a:ext cx="5153662" cy="272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27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7">
            <a:extLst>
              <a:ext uri="{FF2B5EF4-FFF2-40B4-BE49-F238E27FC236}">
                <a16:creationId xmlns:a16="http://schemas.microsoft.com/office/drawing/2014/main" id="{2FA3880A-8D8F-466C-A4A1-F07BCDD37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3C0A64CB-20A1-4508-B568-284EB04F7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62" name="Rectangle 161">
            <a:extLst>
              <a:ext uri="{FF2B5EF4-FFF2-40B4-BE49-F238E27FC236}">
                <a16:creationId xmlns:a16="http://schemas.microsoft.com/office/drawing/2014/main" id="{8DA14841-53A4-4935-BE65-C8373B8A6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877C2CF-B2DD-41C8-8B5E-152673376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4923D72-7E69-464B-94C5-B2530008D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00CCC86-7A88-4DFF-A0D0-6604606A2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F8ABFD-155B-4386-AE33-6E13057CF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172" name="Rectangle 171">
            <a:extLst>
              <a:ext uri="{FF2B5EF4-FFF2-40B4-BE49-F238E27FC236}">
                <a16:creationId xmlns:a16="http://schemas.microsoft.com/office/drawing/2014/main" id="{3FAD17B9-9E6C-4DD1-9728-97B5E5FCC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4" name="Rectangle 173">
            <a:extLst>
              <a:ext uri="{FF2B5EF4-FFF2-40B4-BE49-F238E27FC236}">
                <a16:creationId xmlns:a16="http://schemas.microsoft.com/office/drawing/2014/main" id="{D7AC3F90-A588-42FF-B41D-062A8D91B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07CD44BE-EFD3-9B39-41C1-CCC1A6D007F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t="22320" r="-1" b="16203"/>
          <a:stretch/>
        </p:blipFill>
        <p:spPr>
          <a:xfrm>
            <a:off x="153" y="10"/>
            <a:ext cx="12191695" cy="6857990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015AB904-4FB7-4A0D-B43E-03ACF05E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" y="0"/>
            <a:ext cx="1218986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DE21BA7-E5C4-4FD7-6C9E-DCF6B195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400"/>
              <a:t>Model: Decision Tree 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1AADF25-43E9-4DE0-AD82-4F6052319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Slide Number Placeholder 151">
            <a:extLst>
              <a:ext uri="{FF2B5EF4-FFF2-40B4-BE49-F238E27FC236}">
                <a16:creationId xmlns:a16="http://schemas.microsoft.com/office/drawing/2014/main" id="{1C1F8493-B963-CDFF-50B9-BC053FA825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8407" y="164592"/>
            <a:ext cx="636727" cy="322851"/>
          </a:xfrm>
        </p:spPr>
        <p:txBody>
          <a:bodyPr vert="horz" lIns="91440" tIns="45720" rIns="4572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9A01C0A-2BB6-49E7-91A3-DCB9F9F59583}" type="slidenum">
              <a:rPr lang="en-US" sz="15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50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BC2D515-EF3C-4E4E-8BC1-192B21E9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 Placeholder 109">
            <a:extLst>
              <a:ext uri="{FF2B5EF4-FFF2-40B4-BE49-F238E27FC236}">
                <a16:creationId xmlns:a16="http://schemas.microsoft.com/office/drawing/2014/main" id="{19A6A633-6F5C-07D2-EB05-8158B140C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10579" y="2052116"/>
            <a:ext cx="7959560" cy="39978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Main features included sex, violence, profanity, drugs, and intense.</a:t>
            </a:r>
          </a:p>
          <a:p>
            <a:r>
              <a:rPr lang="en-US" dirty="0"/>
              <a:t>Accuracy: 76%</a:t>
            </a:r>
          </a:p>
          <a:p>
            <a:r>
              <a:rPr lang="en-US" dirty="0"/>
              <a:t>Evaluation: Correctly predicted Shek 2 MPAA rating as PG.</a:t>
            </a:r>
          </a:p>
        </p:txBody>
      </p:sp>
    </p:spTree>
    <p:extLst>
      <p:ext uri="{BB962C8B-B14F-4D97-AF65-F5344CB8AC3E}">
        <p14:creationId xmlns:p14="http://schemas.microsoft.com/office/powerpoint/2010/main" val="1849997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E21BA7-E5C4-4FD7-6C9E-DCF6B195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34" y="326253"/>
            <a:ext cx="10122632" cy="652054"/>
          </a:xfrm>
        </p:spPr>
        <p:txBody>
          <a:bodyPr/>
          <a:lstStyle/>
          <a:p>
            <a:r>
              <a:rPr lang="en-US" dirty="0"/>
              <a:t>Model: Random Forest 1</a:t>
            </a:r>
          </a:p>
        </p:txBody>
      </p:sp>
      <p:graphicFrame>
        <p:nvGraphicFramePr>
          <p:cNvPr id="154" name="Text Placeholder 109">
            <a:extLst>
              <a:ext uri="{FF2B5EF4-FFF2-40B4-BE49-F238E27FC236}">
                <a16:creationId xmlns:a16="http://schemas.microsoft.com/office/drawing/2014/main" id="{D756C3EB-8B13-7BC4-5A55-8EF365B5218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58485236"/>
              </p:ext>
            </p:extLst>
          </p:nvPr>
        </p:nvGraphicFramePr>
        <p:xfrm>
          <a:off x="1032819" y="1528355"/>
          <a:ext cx="101263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2" name="Slide Number Placeholder 151">
            <a:extLst>
              <a:ext uri="{FF2B5EF4-FFF2-40B4-BE49-F238E27FC236}">
                <a16:creationId xmlns:a16="http://schemas.microsoft.com/office/drawing/2014/main" id="{1C1F8493-B963-CDFF-50B9-BC053FA825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420DC-94B1-F8AF-CF20-105420C979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622744"/>
            <a:ext cx="3292843" cy="390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90BD3C-D0DD-BF54-9297-D8EB51EBDA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5221689"/>
            <a:ext cx="4203145" cy="39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4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E21BA7-E5C4-4FD7-6C9E-DCF6B195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684" y="326017"/>
            <a:ext cx="10122632" cy="652054"/>
          </a:xfrm>
        </p:spPr>
        <p:txBody>
          <a:bodyPr/>
          <a:lstStyle/>
          <a:p>
            <a:r>
              <a:rPr lang="en-US" dirty="0"/>
              <a:t>Model: Random Forest 2</a:t>
            </a:r>
          </a:p>
        </p:txBody>
      </p:sp>
      <p:sp>
        <p:nvSpPr>
          <p:cNvPr id="110" name="Text Placeholder 109">
            <a:extLst>
              <a:ext uri="{FF2B5EF4-FFF2-40B4-BE49-F238E27FC236}">
                <a16:creationId xmlns:a16="http://schemas.microsoft.com/office/drawing/2014/main" id="{19A6A633-6F5C-07D2-EB05-8158B140C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7048" y="1663496"/>
            <a:ext cx="10126362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Same features as previous model but included genre</a:t>
            </a:r>
          </a:p>
          <a:p>
            <a:r>
              <a:rPr lang="en-US" dirty="0">
                <a:solidFill>
                  <a:schemeClr val="bg1"/>
                </a:solidFill>
              </a:rPr>
              <a:t>Accuracy fell to 70.88%</a:t>
            </a:r>
          </a:p>
          <a:p>
            <a:r>
              <a:rPr lang="en-US" dirty="0">
                <a:solidFill>
                  <a:schemeClr val="bg1"/>
                </a:solidFill>
              </a:rPr>
              <a:t>Still correctly predicted Shek 2 MPAA rating as PG.</a:t>
            </a:r>
          </a:p>
        </p:txBody>
      </p:sp>
      <p:sp>
        <p:nvSpPr>
          <p:cNvPr id="152" name="Slide Number Placeholder 151">
            <a:extLst>
              <a:ext uri="{FF2B5EF4-FFF2-40B4-BE49-F238E27FC236}">
                <a16:creationId xmlns:a16="http://schemas.microsoft.com/office/drawing/2014/main" id="{1C1F8493-B963-CDFF-50B9-BC053FA825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43ADF-4BB8-31CC-8187-CBEC40B1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048" y="3585152"/>
            <a:ext cx="4216506" cy="560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A69070-B512-CB54-FFBF-EADD9CBD2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157" y="3585151"/>
            <a:ext cx="5313640" cy="5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3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28">
            <a:extLst>
              <a:ext uri="{FF2B5EF4-FFF2-40B4-BE49-F238E27FC236}">
                <a16:creationId xmlns:a16="http://schemas.microsoft.com/office/drawing/2014/main" id="{2FA3880A-8D8F-466C-A4A1-F07BCDD37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3C0A64CB-20A1-4508-B568-284EB04F7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33" name="Rectangle 132">
            <a:extLst>
              <a:ext uri="{FF2B5EF4-FFF2-40B4-BE49-F238E27FC236}">
                <a16:creationId xmlns:a16="http://schemas.microsoft.com/office/drawing/2014/main" id="{8DA14841-53A4-4935-BE65-C8373B8A6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877C2CF-B2DD-41C8-8B5E-152673376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4923D72-7E69-464B-94C5-B2530008D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00CCC86-7A88-4DFF-A0D0-6604606A2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1F8ABFD-155B-4386-AE33-6E13057CF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93D02AEE-30DC-4942-A9CA-7A14F8B8E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5" name="Picture 144">
            <a:extLst>
              <a:ext uri="{FF2B5EF4-FFF2-40B4-BE49-F238E27FC236}">
                <a16:creationId xmlns:a16="http://schemas.microsoft.com/office/drawing/2014/main" id="{FD5823F2-909F-442D-BD72-0681CCC1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4231EAF6-FA22-4615-A4D3-D171F7E17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9" name="Rectangle 148">
            <a:extLst>
              <a:ext uri="{FF2B5EF4-FFF2-40B4-BE49-F238E27FC236}">
                <a16:creationId xmlns:a16="http://schemas.microsoft.com/office/drawing/2014/main" id="{F2699857-2714-4E6A-8E11-6BEB9DF7F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46078E7-FDC0-448B-97DE-4EDA7702E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266E038-37B1-43CF-AFE0-B21E9F572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EA43EF1-009B-DB7B-7D0C-2867BEE9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4" y="808056"/>
            <a:ext cx="3319381" cy="1077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900" cap="none"/>
              <a:t>Recommendations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B6B0F1EA-6238-43CB-79BF-1872F34BB86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>
          <a:xfrm>
            <a:off x="158407" y="164592"/>
            <a:ext cx="636727" cy="322851"/>
          </a:xfrm>
        </p:spPr>
        <p:txBody>
          <a:bodyPr vert="horz" lIns="91440" tIns="45720" rIns="4572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9A01C0A-2BB6-49E7-91A3-DCB9F9F59583}" type="slidenum">
              <a:rPr lang="en-US" sz="150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150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9C9924F1-3753-74B2-DDD5-B5340BB78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964444" y="2052116"/>
            <a:ext cx="3319381" cy="3997828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1700" dirty="0"/>
              <a:t>  If given more time, we would explore more outside variables beyond parental guidance and genres.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1700" dirty="0"/>
              <a:t> Improve the model without looking at it historically but more as a snapshot in time. For example, focus on movies released in 2004.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1700" dirty="0"/>
              <a:t>How has the rating system changed overtime? Are we more (or less) flexible in our rating system compared to when movies were initially rated?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FAF560-C751-19D4-5961-82BF33B6CC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"/>
          <a:stretch/>
        </p:blipFill>
        <p:spPr>
          <a:xfrm>
            <a:off x="6901490" y="-2718"/>
            <a:ext cx="5288377" cy="685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55" name="Rectangle 154">
            <a:extLst>
              <a:ext uri="{FF2B5EF4-FFF2-40B4-BE49-F238E27FC236}">
                <a16:creationId xmlns:a16="http://schemas.microsoft.com/office/drawing/2014/main" id="{31E37FC9-ED36-42CE-9877-9EAB50FA8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2586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B7B0AB-7E6D-621B-43E7-5825A6443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628" y="396061"/>
            <a:ext cx="7956560" cy="1078348"/>
          </a:xfrm>
        </p:spPr>
        <p:txBody>
          <a:bodyPr/>
          <a:lstStyle/>
          <a:p>
            <a:pPr algn="l"/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7F915-9766-1FC8-98BD-D9AE3D5B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0812" y="1117500"/>
            <a:ext cx="3896467" cy="713818"/>
          </a:xfrm>
        </p:spPr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Data 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98B98-666E-DD1A-4495-52EE86B74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1095" y="1152701"/>
            <a:ext cx="3899798" cy="71381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Packages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4325A5-D39C-C1D3-2E04-F741DCBB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C7ECE-6B8F-A6C6-C92D-4C1BB624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0EAB863-CE22-BD97-2EB3-865651E5D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0943" y="2181176"/>
            <a:ext cx="3893623" cy="3910496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8EC0C1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- IMDB: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3"/>
              </a:rPr>
              <a:t>https://www.kaggle.com/datasets/barryhaworth/imdb-parental-guide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rgbClr val="8EC0C1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- Movie Lens: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4"/>
              </a:rPr>
              <a:t>https://grouplens.org/datasets/movielens/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73AEEE-3BCB-8E99-6B88-9D3DA6089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908" y="2258630"/>
            <a:ext cx="4870616" cy="391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6A12F8-DD2F-AE73-677F-D5310D6D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1AF693-3675-52A5-9E8E-C071048A1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796" y="5213388"/>
            <a:ext cx="5444517" cy="1731890"/>
          </a:xfrm>
        </p:spPr>
        <p:txBody>
          <a:bodyPr/>
          <a:lstStyle/>
          <a:p>
            <a:r>
              <a:rPr lang="en-US" dirty="0"/>
              <a:t>Glory Onyeugbo and Amelia Green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5086-0CC9-27F6-6E0B-D4F2AD6181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A5661-D5F1-FE42-FC42-CC2D27E7AA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83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914</TotalTime>
  <Words>648</Words>
  <Application>Microsoft Office PowerPoint</Application>
  <PresentationFormat>Widescreen</PresentationFormat>
  <Paragraphs>98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MS Shell Dlg 2</vt:lpstr>
      <vt:lpstr>Wingdings</vt:lpstr>
      <vt:lpstr>Wingdings 3</vt:lpstr>
      <vt:lpstr>Madison</vt:lpstr>
      <vt:lpstr>Predicting and Comparing MPAA Ratings for "Shrek 2"</vt:lpstr>
      <vt:lpstr>AGENDA</vt:lpstr>
      <vt:lpstr>Introduction</vt:lpstr>
      <vt:lpstr>Data Sources</vt:lpstr>
      <vt:lpstr>Observations Pt. 1</vt:lpstr>
      <vt:lpstr>Observations Pt. 2</vt:lpstr>
      <vt:lpstr>Observations Pt. 3</vt:lpstr>
      <vt:lpstr>Word Clouds</vt:lpstr>
      <vt:lpstr>Model: Decision Tree 1</vt:lpstr>
      <vt:lpstr>Model: Random Forest 1</vt:lpstr>
      <vt:lpstr>Model: Random Forest 2</vt:lpstr>
      <vt:lpstr>Recommendations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and Comparing MPAA Ratings for "Shrek 2"</dc:title>
  <dc:creator>Glory Onyeugbo</dc:creator>
  <cp:lastModifiedBy>Glory Onyeugbo</cp:lastModifiedBy>
  <cp:revision>2</cp:revision>
  <dcterms:created xsi:type="dcterms:W3CDTF">2024-03-17T17:19:33Z</dcterms:created>
  <dcterms:modified xsi:type="dcterms:W3CDTF">2024-03-23T04:09:31Z</dcterms:modified>
</cp:coreProperties>
</file>